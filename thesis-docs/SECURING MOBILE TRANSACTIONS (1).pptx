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69" r:id="rId4"/>
    <p:sldId id="266" r:id="rId5"/>
    <p:sldId id="267" r:id="rId6"/>
    <p:sldId id="268" r:id="rId7"/>
    <p:sldId id="260" r:id="rId8"/>
    <p:sldId id="264" r:id="rId9"/>
    <p:sldId id="265" r:id="rId10"/>
    <p:sldId id="270" r:id="rId11"/>
    <p:sldId id="271" r:id="rId12"/>
  </p:sldIdLst>
  <p:sldSz cx="18288000" cy="10287000"/>
  <p:notesSz cx="6858000" cy="9144000"/>
  <p:embeddedFontLst>
    <p:embeddedFont>
      <p:font typeface="Montserrat" panose="00000500000000000000" pitchFamily="2" charset="0"/>
      <p:regular r:id="rId14"/>
      <p:bold r:id="rId15"/>
      <p:italic r:id="rId16"/>
      <p:boldItalic r:id="rId17"/>
    </p:embeddedFont>
    <p:embeddedFont>
      <p:font typeface="Ubuntu Bold" panose="020B0604020202020204" charset="0"/>
      <p:regular r:id="rId18"/>
    </p:embeddedFont>
    <p:embeddedFont>
      <p:font typeface="Verdana" panose="020B0604030504040204" pitchFamily="34"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4DCB01-7861-4B16-851B-D84D50EA999B}" v="60" dt="2026-07-21T12:54:55.7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7835" autoAdjust="0"/>
  </p:normalViewPr>
  <p:slideViewPr>
    <p:cSldViewPr>
      <p:cViewPr varScale="1">
        <p:scale>
          <a:sx n="43" d="100"/>
          <a:sy n="43" d="100"/>
        </p:scale>
        <p:origin x="74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A UNGAB" userId="f927ae81be438986" providerId="LiveId" clId="{D8433760-2F2C-492C-8BE7-B2D9D6AEB7CD}"/>
    <pc:docChg chg="undo custSel addSld modSld">
      <pc:chgData name="DANIELA UNGAB" userId="f927ae81be438986" providerId="LiveId" clId="{D8433760-2F2C-492C-8BE7-B2D9D6AEB7CD}" dt="2026-07-21T12:55:18.040" v="775" actId="113"/>
      <pc:docMkLst>
        <pc:docMk/>
      </pc:docMkLst>
      <pc:sldChg chg="addSp delSp modSp mod modNotesTx">
        <pc:chgData name="DANIELA UNGAB" userId="f927ae81be438986" providerId="LiveId" clId="{D8433760-2F2C-492C-8BE7-B2D9D6AEB7CD}" dt="2026-07-21T02:57:56.139" v="552"/>
        <pc:sldMkLst>
          <pc:docMk/>
          <pc:sldMk cId="0" sldId="256"/>
        </pc:sldMkLst>
        <pc:spChg chg="mod">
          <ac:chgData name="DANIELA UNGAB" userId="f927ae81be438986" providerId="LiveId" clId="{D8433760-2F2C-492C-8BE7-B2D9D6AEB7CD}" dt="2026-07-21T01:19:50.630" v="74" actId="1076"/>
          <ac:spMkLst>
            <pc:docMk/>
            <pc:sldMk cId="0" sldId="256"/>
            <ac:spMk id="2" creationId="{00000000-0000-0000-0000-000000000000}"/>
          </ac:spMkLst>
        </pc:spChg>
        <pc:spChg chg="mod">
          <ac:chgData name="DANIELA UNGAB" userId="f927ae81be438986" providerId="LiveId" clId="{D8433760-2F2C-492C-8BE7-B2D9D6AEB7CD}" dt="2026-07-21T02:30:20.160" v="541" actId="1076"/>
          <ac:spMkLst>
            <pc:docMk/>
            <pc:sldMk cId="0" sldId="256"/>
            <ac:spMk id="6" creationId="{00000000-0000-0000-0000-000000000000}"/>
          </ac:spMkLst>
        </pc:spChg>
        <pc:spChg chg="add del">
          <ac:chgData name="DANIELA UNGAB" userId="f927ae81be438986" providerId="LiveId" clId="{D8433760-2F2C-492C-8BE7-B2D9D6AEB7CD}" dt="2026-07-21T01:20:51.917" v="76" actId="22"/>
          <ac:spMkLst>
            <pc:docMk/>
            <pc:sldMk cId="0" sldId="256"/>
            <ac:spMk id="8" creationId="{80F8BC9A-0FFA-A5CF-3311-D85F9EACD470}"/>
          </ac:spMkLst>
        </pc:spChg>
        <pc:spChg chg="add mod">
          <ac:chgData name="DANIELA UNGAB" userId="f927ae81be438986" providerId="LiveId" clId="{D8433760-2F2C-492C-8BE7-B2D9D6AEB7CD}" dt="2026-07-21T01:24:32.311" v="182" actId="121"/>
          <ac:spMkLst>
            <pc:docMk/>
            <pc:sldMk cId="0" sldId="256"/>
            <ac:spMk id="10" creationId="{152178F9-E2C1-93EA-EF97-0FE6A562BC28}"/>
          </ac:spMkLst>
        </pc:spChg>
        <pc:grpChg chg="mod">
          <ac:chgData name="DANIELA UNGAB" userId="f927ae81be438986" providerId="LiveId" clId="{D8433760-2F2C-492C-8BE7-B2D9D6AEB7CD}" dt="2026-07-21T02:30:13.516" v="540" actId="1037"/>
          <ac:grpSpMkLst>
            <pc:docMk/>
            <pc:sldMk cId="0" sldId="256"/>
            <ac:grpSpMk id="4" creationId="{00000000-0000-0000-0000-000000000000}"/>
          </ac:grpSpMkLst>
        </pc:grpChg>
      </pc:sldChg>
      <pc:sldChg chg="modSp mod modNotesTx">
        <pc:chgData name="DANIELA UNGAB" userId="f927ae81be438986" providerId="LiveId" clId="{D8433760-2F2C-492C-8BE7-B2D9D6AEB7CD}" dt="2026-07-21T02:26:53.854" v="538" actId="20577"/>
        <pc:sldMkLst>
          <pc:docMk/>
          <pc:sldMk cId="0" sldId="257"/>
        </pc:sldMkLst>
        <pc:spChg chg="mod">
          <ac:chgData name="DANIELA UNGAB" userId="f927ae81be438986" providerId="LiveId" clId="{D8433760-2F2C-492C-8BE7-B2D9D6AEB7CD}" dt="2026-07-20T08:27:48.179" v="38" actId="1076"/>
          <ac:spMkLst>
            <pc:docMk/>
            <pc:sldMk cId="0" sldId="257"/>
            <ac:spMk id="2" creationId="{00000000-0000-0000-0000-000000000000}"/>
          </ac:spMkLst>
        </pc:spChg>
        <pc:spChg chg="mod">
          <ac:chgData name="DANIELA UNGAB" userId="f927ae81be438986" providerId="LiveId" clId="{D8433760-2F2C-492C-8BE7-B2D9D6AEB7CD}" dt="2026-07-20T08:27:40.809" v="36" actId="1076"/>
          <ac:spMkLst>
            <pc:docMk/>
            <pc:sldMk cId="0" sldId="257"/>
            <ac:spMk id="3" creationId="{00000000-0000-0000-0000-000000000000}"/>
          </ac:spMkLst>
        </pc:spChg>
        <pc:spChg chg="mod">
          <ac:chgData name="DANIELA UNGAB" userId="f927ae81be438986" providerId="LiveId" clId="{D8433760-2F2C-492C-8BE7-B2D9D6AEB7CD}" dt="2026-07-20T08:27:35.091" v="34" actId="1076"/>
          <ac:spMkLst>
            <pc:docMk/>
            <pc:sldMk cId="0" sldId="257"/>
            <ac:spMk id="5" creationId="{00000000-0000-0000-0000-000000000000}"/>
          </ac:spMkLst>
        </pc:spChg>
      </pc:sldChg>
      <pc:sldChg chg="modSp mod">
        <pc:chgData name="DANIELA UNGAB" userId="f927ae81be438986" providerId="LiveId" clId="{D8433760-2F2C-492C-8BE7-B2D9D6AEB7CD}" dt="2026-07-21T12:55:18.040" v="775" actId="113"/>
        <pc:sldMkLst>
          <pc:docMk/>
          <pc:sldMk cId="0" sldId="260"/>
        </pc:sldMkLst>
        <pc:spChg chg="mod">
          <ac:chgData name="DANIELA UNGAB" userId="f927ae81be438986" providerId="LiveId" clId="{D8433760-2F2C-492C-8BE7-B2D9D6AEB7CD}" dt="2026-07-21T12:55:18.040" v="775" actId="113"/>
          <ac:spMkLst>
            <pc:docMk/>
            <pc:sldMk cId="0" sldId="260"/>
            <ac:spMk id="5" creationId="{00000000-0000-0000-0000-000000000000}"/>
          </ac:spMkLst>
        </pc:spChg>
      </pc:sldChg>
      <pc:sldChg chg="addSp delSp modSp mod">
        <pc:chgData name="DANIELA UNGAB" userId="f927ae81be438986" providerId="LiveId" clId="{D8433760-2F2C-492C-8BE7-B2D9D6AEB7CD}" dt="2026-07-21T12:44:57.529" v="730" actId="2711"/>
        <pc:sldMkLst>
          <pc:docMk/>
          <pc:sldMk cId="1119952665" sldId="264"/>
        </pc:sldMkLst>
        <pc:spChg chg="del mod">
          <ac:chgData name="DANIELA UNGAB" userId="f927ae81be438986" providerId="LiveId" clId="{D8433760-2F2C-492C-8BE7-B2D9D6AEB7CD}" dt="2026-07-21T12:38:22.633" v="658" actId="478"/>
          <ac:spMkLst>
            <pc:docMk/>
            <pc:sldMk cId="1119952665" sldId="264"/>
            <ac:spMk id="4" creationId="{00000000-0000-0000-0000-000000000000}"/>
          </ac:spMkLst>
        </pc:spChg>
        <pc:spChg chg="mod">
          <ac:chgData name="DANIELA UNGAB" userId="f927ae81be438986" providerId="LiveId" clId="{D8433760-2F2C-492C-8BE7-B2D9D6AEB7CD}" dt="2026-07-21T12:44:05.187" v="723" actId="1076"/>
          <ac:spMkLst>
            <pc:docMk/>
            <pc:sldMk cId="1119952665" sldId="264"/>
            <ac:spMk id="5" creationId="{8CA42C15-0039-40BC-974D-E29D01995734}"/>
          </ac:spMkLst>
        </pc:spChg>
        <pc:graphicFrameChg chg="add mod modGraphic">
          <ac:chgData name="DANIELA UNGAB" userId="f927ae81be438986" providerId="LiveId" clId="{D8433760-2F2C-492C-8BE7-B2D9D6AEB7CD}" dt="2026-07-21T12:44:57.529" v="730" actId="2711"/>
          <ac:graphicFrameMkLst>
            <pc:docMk/>
            <pc:sldMk cId="1119952665" sldId="264"/>
            <ac:graphicFrameMk id="6" creationId="{F8673DCE-83C6-CEBC-BEC6-61C326BFD8AC}"/>
          </ac:graphicFrameMkLst>
        </pc:graphicFrameChg>
      </pc:sldChg>
      <pc:sldChg chg="modSp mod">
        <pc:chgData name="DANIELA UNGAB" userId="f927ae81be438986" providerId="LiveId" clId="{D8433760-2F2C-492C-8BE7-B2D9D6AEB7CD}" dt="2026-07-21T01:33:06.099" v="374" actId="1076"/>
        <pc:sldMkLst>
          <pc:docMk/>
          <pc:sldMk cId="3001367796" sldId="265"/>
        </pc:sldMkLst>
        <pc:spChg chg="mod">
          <ac:chgData name="DANIELA UNGAB" userId="f927ae81be438986" providerId="LiveId" clId="{D8433760-2F2C-492C-8BE7-B2D9D6AEB7CD}" dt="2026-07-21T01:32:56.034" v="373" actId="20577"/>
          <ac:spMkLst>
            <pc:docMk/>
            <pc:sldMk cId="3001367796" sldId="265"/>
            <ac:spMk id="4" creationId="{00000000-0000-0000-0000-000000000000}"/>
          </ac:spMkLst>
        </pc:spChg>
        <pc:spChg chg="mod">
          <ac:chgData name="DANIELA UNGAB" userId="f927ae81be438986" providerId="LiveId" clId="{D8433760-2F2C-492C-8BE7-B2D9D6AEB7CD}" dt="2026-07-21T01:33:06.099" v="374" actId="1076"/>
          <ac:spMkLst>
            <pc:docMk/>
            <pc:sldMk cId="3001367796" sldId="265"/>
            <ac:spMk id="5" creationId="{8CA42C15-0039-40BC-974D-E29D01995734}"/>
          </ac:spMkLst>
        </pc:spChg>
      </pc:sldChg>
      <pc:sldChg chg="modSp mod">
        <pc:chgData name="DANIELA UNGAB" userId="f927ae81be438986" providerId="LiveId" clId="{D8433760-2F2C-492C-8BE7-B2D9D6AEB7CD}" dt="2026-07-20T18:38:14.610" v="61" actId="20577"/>
        <pc:sldMkLst>
          <pc:docMk/>
          <pc:sldMk cId="388760670" sldId="266"/>
        </pc:sldMkLst>
        <pc:spChg chg="mod">
          <ac:chgData name="DANIELA UNGAB" userId="f927ae81be438986" providerId="LiveId" clId="{D8433760-2F2C-492C-8BE7-B2D9D6AEB7CD}" dt="2026-07-20T18:38:14.610" v="61" actId="20577"/>
          <ac:spMkLst>
            <pc:docMk/>
            <pc:sldMk cId="388760670" sldId="266"/>
            <ac:spMk id="5" creationId="{00000000-0000-0000-0000-000000000000}"/>
          </ac:spMkLst>
        </pc:spChg>
      </pc:sldChg>
      <pc:sldChg chg="modSp mod">
        <pc:chgData name="DANIELA UNGAB" userId="f927ae81be438986" providerId="LiveId" clId="{D8433760-2F2C-492C-8BE7-B2D9D6AEB7CD}" dt="2026-07-21T04:35:50.772" v="587" actId="20577"/>
        <pc:sldMkLst>
          <pc:docMk/>
          <pc:sldMk cId="2449735581" sldId="268"/>
        </pc:sldMkLst>
        <pc:spChg chg="mod">
          <ac:chgData name="DANIELA UNGAB" userId="f927ae81be438986" providerId="LiveId" clId="{D8433760-2F2C-492C-8BE7-B2D9D6AEB7CD}" dt="2026-07-21T04:35:50.772" v="587" actId="20577"/>
          <ac:spMkLst>
            <pc:docMk/>
            <pc:sldMk cId="2449735581" sldId="268"/>
            <ac:spMk id="5" creationId="{BB161752-B5D2-76F8-FBCC-DC67C69844DD}"/>
          </ac:spMkLst>
        </pc:spChg>
      </pc:sldChg>
      <pc:sldChg chg="modSp add mod">
        <pc:chgData name="DANIELA UNGAB" userId="f927ae81be438986" providerId="LiveId" clId="{D8433760-2F2C-492C-8BE7-B2D9D6AEB7CD}" dt="2026-07-20T08:27:20.775" v="33"/>
        <pc:sldMkLst>
          <pc:docMk/>
          <pc:sldMk cId="1255657234" sldId="269"/>
        </pc:sldMkLst>
        <pc:spChg chg="mod">
          <ac:chgData name="DANIELA UNGAB" userId="f927ae81be438986" providerId="LiveId" clId="{D8433760-2F2C-492C-8BE7-B2D9D6AEB7CD}" dt="2026-07-20T08:27:20.775" v="33"/>
          <ac:spMkLst>
            <pc:docMk/>
            <pc:sldMk cId="1255657234" sldId="269"/>
            <ac:spMk id="5" creationId="{4CE242AC-752C-A57C-31C6-1B0A70E14C44}"/>
          </ac:spMkLst>
        </pc:spChg>
      </pc:sldChg>
      <pc:sldChg chg="modSp add mod">
        <pc:chgData name="DANIELA UNGAB" userId="f927ae81be438986" providerId="LiveId" clId="{D8433760-2F2C-492C-8BE7-B2D9D6AEB7CD}" dt="2026-07-21T12:48:55.536" v="758" actId="1076"/>
        <pc:sldMkLst>
          <pc:docMk/>
          <pc:sldMk cId="503739696" sldId="270"/>
        </pc:sldMkLst>
        <pc:spChg chg="mod">
          <ac:chgData name="DANIELA UNGAB" userId="f927ae81be438986" providerId="LiveId" clId="{D8433760-2F2C-492C-8BE7-B2D9D6AEB7CD}" dt="2026-07-21T12:48:37.308" v="754" actId="1076"/>
          <ac:spMkLst>
            <pc:docMk/>
            <pc:sldMk cId="503739696" sldId="270"/>
            <ac:spMk id="2" creationId="{31E3852F-38BC-DAD5-A30E-062A881B5C5B}"/>
          </ac:spMkLst>
        </pc:spChg>
        <pc:spChg chg="mod">
          <ac:chgData name="DANIELA UNGAB" userId="f927ae81be438986" providerId="LiveId" clId="{D8433760-2F2C-492C-8BE7-B2D9D6AEB7CD}" dt="2026-07-21T12:48:41.795" v="755" actId="1076"/>
          <ac:spMkLst>
            <pc:docMk/>
            <pc:sldMk cId="503739696" sldId="270"/>
            <ac:spMk id="3" creationId="{C333FACE-856E-7E3C-CC07-15DB7DE7891E}"/>
          </ac:spMkLst>
        </pc:spChg>
        <pc:spChg chg="mod">
          <ac:chgData name="DANIELA UNGAB" userId="f927ae81be438986" providerId="LiveId" clId="{D8433760-2F2C-492C-8BE7-B2D9D6AEB7CD}" dt="2026-07-21T12:48:52.324" v="757" actId="1076"/>
          <ac:spMkLst>
            <pc:docMk/>
            <pc:sldMk cId="503739696" sldId="270"/>
            <ac:spMk id="4" creationId="{C4E8F239-434B-4433-C319-63497C851835}"/>
          </ac:spMkLst>
        </pc:spChg>
        <pc:spChg chg="mod">
          <ac:chgData name="DANIELA UNGAB" userId="f927ae81be438986" providerId="LiveId" clId="{D8433760-2F2C-492C-8BE7-B2D9D6AEB7CD}" dt="2026-07-21T12:48:55.536" v="758" actId="1076"/>
          <ac:spMkLst>
            <pc:docMk/>
            <pc:sldMk cId="503739696" sldId="270"/>
            <ac:spMk id="5" creationId="{C9D3A5F6-0D7E-CACC-0608-6A7D0A304705}"/>
          </ac:spMkLst>
        </pc:spChg>
      </pc:sldChg>
      <pc:sldChg chg="addSp delSp modSp add mod">
        <pc:chgData name="DANIELA UNGAB" userId="f927ae81be438986" providerId="LiveId" clId="{D8433760-2F2C-492C-8BE7-B2D9D6AEB7CD}" dt="2026-07-21T12:49:25.535" v="765" actId="1076"/>
        <pc:sldMkLst>
          <pc:docMk/>
          <pc:sldMk cId="757620690" sldId="271"/>
        </pc:sldMkLst>
        <pc:spChg chg="del mod">
          <ac:chgData name="DANIELA UNGAB" userId="f927ae81be438986" providerId="LiveId" clId="{D8433760-2F2C-492C-8BE7-B2D9D6AEB7CD}" dt="2026-07-21T12:47:52.691" v="745"/>
          <ac:spMkLst>
            <pc:docMk/>
            <pc:sldMk cId="757620690" sldId="271"/>
            <ac:spMk id="4" creationId="{BC928636-AC8D-6E71-7B4B-47005BEB9394}"/>
          </ac:spMkLst>
        </pc:spChg>
        <pc:spChg chg="mod">
          <ac:chgData name="DANIELA UNGAB" userId="f927ae81be438986" providerId="LiveId" clId="{D8433760-2F2C-492C-8BE7-B2D9D6AEB7CD}" dt="2026-07-21T12:49:25.535" v="765" actId="1076"/>
          <ac:spMkLst>
            <pc:docMk/>
            <pc:sldMk cId="757620690" sldId="271"/>
            <ac:spMk id="5" creationId="{5D764584-6F39-6974-6139-CE9616B6B200}"/>
          </ac:spMkLst>
        </pc:spChg>
        <pc:spChg chg="add mod">
          <ac:chgData name="DANIELA UNGAB" userId="f927ae81be438986" providerId="LiveId" clId="{D8433760-2F2C-492C-8BE7-B2D9D6AEB7CD}" dt="2026-07-21T12:49:21.591" v="764" actId="14100"/>
          <ac:spMkLst>
            <pc:docMk/>
            <pc:sldMk cId="757620690" sldId="271"/>
            <ac:spMk id="7" creationId="{B2745E63-6755-E83A-9E57-F917A107548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08B74A-89E7-4056-98E5-73997260EEAB}" type="datetimeFigureOut">
              <a:rPr lang="en-PH" smtClean="0"/>
              <a:t>7/21/2026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1D393D-91F5-4327-B6EB-4F40AF7A291C}" type="slidenum">
              <a:rPr lang="en-PH" smtClean="0"/>
              <a:t>‹#›</a:t>
            </a:fld>
            <a:endParaRPr lang="en-PH"/>
          </a:p>
        </p:txBody>
      </p:sp>
    </p:spTree>
    <p:extLst>
      <p:ext uri="{BB962C8B-B14F-4D97-AF65-F5344CB8AC3E}">
        <p14:creationId xmlns:p14="http://schemas.microsoft.com/office/powerpoint/2010/main" val="3226782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Good afternoon, respected members of the panel.</a:t>
            </a:r>
          </a:p>
          <a:p>
            <a:endParaRPr lang="en-PH" dirty="0"/>
          </a:p>
          <a:p>
            <a:r>
              <a:rPr lang="en-PH" dirty="0"/>
              <a:t>Imagine you are a small online seller or a student entrepreneur here in our town. You just handed over your product because a customer sent you a quick screenshot of their mobile payment. But what if that digital receipt was edited? For a small business, that single fake image could mean an entire day's profit is completely lost.</a:t>
            </a:r>
          </a:p>
          <a:p>
            <a:endParaRPr lang="en-PH" dirty="0"/>
          </a:p>
          <a:p>
            <a:r>
              <a:rPr lang="en-PH" dirty="0"/>
              <a:t>To help solve this growing problem in our community, my research partner, Rogie P. </a:t>
            </a:r>
            <a:r>
              <a:rPr lang="en-PH" dirty="0" err="1"/>
              <a:t>Bacanto</a:t>
            </a:r>
            <a:r>
              <a:rPr lang="en-PH" dirty="0"/>
              <a:t>, and I, Daniela S. </a:t>
            </a:r>
            <a:r>
              <a:rPr lang="en-PH" dirty="0" err="1"/>
              <a:t>Ungab</a:t>
            </a:r>
            <a:r>
              <a:rPr lang="en-PH" dirty="0"/>
              <a:t>, proudly present our proposed study entitled: </a:t>
            </a:r>
            <a:r>
              <a:rPr lang="en-PH" b="1" dirty="0"/>
              <a:t>Securing Mobile Transactions: A Comparative Evaluation of CNN Architectures in Detecting Digital Receipt Forgery</a:t>
            </a:r>
            <a:r>
              <a:rPr lang="en-PH" dirty="0"/>
              <a:t>.</a:t>
            </a:r>
          </a:p>
          <a:p>
            <a:endParaRPr lang="en-PH" dirty="0"/>
          </a:p>
          <a:p>
            <a:r>
              <a:rPr lang="en-PH" dirty="0"/>
              <a:t>We are here today to discuss how we can use these CNN ARCHITECTURES to protect local livelihoods from digital deception. Let's begin.</a:t>
            </a:r>
          </a:p>
          <a:p>
            <a:endParaRPr lang="en-PH" dirty="0"/>
          </a:p>
        </p:txBody>
      </p:sp>
      <p:sp>
        <p:nvSpPr>
          <p:cNvPr id="4" name="Slide Number Placeholder 3"/>
          <p:cNvSpPr>
            <a:spLocks noGrp="1"/>
          </p:cNvSpPr>
          <p:nvPr>
            <p:ph type="sldNum" sz="quarter" idx="5"/>
          </p:nvPr>
        </p:nvSpPr>
        <p:spPr/>
        <p:txBody>
          <a:bodyPr/>
          <a:lstStyle/>
          <a:p>
            <a:fld id="{4A1D393D-91F5-4327-B6EB-4F40AF7A291C}" type="slidenum">
              <a:rPr lang="en-PH" smtClean="0"/>
              <a:t>1</a:t>
            </a:fld>
            <a:endParaRPr lang="en-PH"/>
          </a:p>
        </p:txBody>
      </p:sp>
    </p:spTree>
    <p:extLst>
      <p:ext uri="{BB962C8B-B14F-4D97-AF65-F5344CB8AC3E}">
        <p14:creationId xmlns:p14="http://schemas.microsoft.com/office/powerpoint/2010/main" val="410501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Moving on to our background and rationale. As someone who frequently buys from online sellers and often uses </a:t>
            </a:r>
            <a:r>
              <a:rPr lang="en-PH" sz="1200" kern="1200" dirty="0" err="1">
                <a:solidFill>
                  <a:schemeClr val="tx1"/>
                </a:solidFill>
                <a:effectLst/>
                <a:latin typeface="+mn-lt"/>
                <a:ea typeface="+mn-ea"/>
                <a:cs typeface="+mn-cs"/>
              </a:rPr>
              <a:t>GCash</a:t>
            </a:r>
            <a:r>
              <a:rPr lang="en-PH" sz="1200" kern="1200" dirty="0">
                <a:solidFill>
                  <a:schemeClr val="tx1"/>
                </a:solidFill>
                <a:effectLst/>
                <a:latin typeface="+mn-lt"/>
                <a:ea typeface="+mn-ea"/>
                <a:cs typeface="+mn-cs"/>
              </a:rPr>
              <a:t> for payments, I see firsthand how much our local community relies on quick digital transactions. But for the sellers, this convenience comes with a growing risk: a sharp rise in digital receipt forgery. </a:t>
            </a:r>
          </a:p>
          <a:p>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The reality is that local merchants and student entrepreneurs are highly vulnerable to this type of scam. They do not have access to the expensive, resource-heavy fraud-detection tools that big companies use. Most of the time, they are just managing their businesses on everyday smartphones. </a:t>
            </a:r>
          </a:p>
          <a:p>
            <a:r>
              <a:rPr lang="en-PH" sz="1200" kern="1200" dirty="0">
                <a:solidFill>
                  <a:schemeClr val="tx1"/>
                </a:solidFill>
                <a:effectLst/>
                <a:latin typeface="+mn-lt"/>
                <a:ea typeface="+mn-ea"/>
                <a:cs typeface="+mn-cs"/>
              </a:rPr>
              <a:t>That is exactly why we designed this study. We are comparing three specific AI models—a Basic CNN, ResNet50, and MobileNetV2—to evaluate their effectiveness in spotting tiny, pixel-level tampering and digital forgery in e-wallet receipts. </a:t>
            </a:r>
          </a:p>
          <a:p>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Ultimately, our goal is to find the perfect balance. We want to determine which architecture offers the best combination of high detection accuracy and lightweight computational efficiency, ensuring it can run smoothly on the everyday devices that our local sellers actually use."</a:t>
            </a:r>
          </a:p>
          <a:p>
            <a:endParaRPr lang="en-PH" dirty="0"/>
          </a:p>
        </p:txBody>
      </p:sp>
      <p:sp>
        <p:nvSpPr>
          <p:cNvPr id="4" name="Slide Number Placeholder 3"/>
          <p:cNvSpPr>
            <a:spLocks noGrp="1"/>
          </p:cNvSpPr>
          <p:nvPr>
            <p:ph type="sldNum" sz="quarter" idx="5"/>
          </p:nvPr>
        </p:nvSpPr>
        <p:spPr/>
        <p:txBody>
          <a:bodyPr/>
          <a:lstStyle/>
          <a:p>
            <a:fld id="{4A1D393D-91F5-4327-B6EB-4F40AF7A291C}" type="slidenum">
              <a:rPr lang="en-PH" smtClean="0"/>
              <a:t>2</a:t>
            </a:fld>
            <a:endParaRPr lang="en-PH"/>
          </a:p>
        </p:txBody>
      </p:sp>
    </p:spTree>
    <p:extLst>
      <p:ext uri="{BB962C8B-B14F-4D97-AF65-F5344CB8AC3E}">
        <p14:creationId xmlns:p14="http://schemas.microsoft.com/office/powerpoint/2010/main" val="2734325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4A1D393D-91F5-4327-B6EB-4F40AF7A291C}" type="slidenum">
              <a:rPr lang="en-PH" smtClean="0"/>
              <a:t>5</a:t>
            </a:fld>
            <a:endParaRPr lang="en-PH"/>
          </a:p>
        </p:txBody>
      </p:sp>
    </p:spTree>
    <p:extLst>
      <p:ext uri="{BB962C8B-B14F-4D97-AF65-F5344CB8AC3E}">
        <p14:creationId xmlns:p14="http://schemas.microsoft.com/office/powerpoint/2010/main" val="81500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4A1D393D-91F5-4327-B6EB-4F40AF7A291C}" type="slidenum">
              <a:rPr lang="en-PH" smtClean="0"/>
              <a:t>9</a:t>
            </a:fld>
            <a:endParaRPr lang="en-PH"/>
          </a:p>
        </p:txBody>
      </p:sp>
    </p:spTree>
    <p:extLst>
      <p:ext uri="{BB962C8B-B14F-4D97-AF65-F5344CB8AC3E}">
        <p14:creationId xmlns:p14="http://schemas.microsoft.com/office/powerpoint/2010/main" val="3359940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4A1D393D-91F5-4327-B6EB-4F40AF7A291C}" type="slidenum">
              <a:rPr lang="en-PH" smtClean="0"/>
              <a:t>10</a:t>
            </a:fld>
            <a:endParaRPr lang="en-PH"/>
          </a:p>
        </p:txBody>
      </p:sp>
    </p:spTree>
    <p:extLst>
      <p:ext uri="{BB962C8B-B14F-4D97-AF65-F5344CB8AC3E}">
        <p14:creationId xmlns:p14="http://schemas.microsoft.com/office/powerpoint/2010/main" val="5970451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23298" y="3877197"/>
            <a:ext cx="6409803" cy="6409803"/>
          </a:xfrm>
          <a:custGeom>
            <a:avLst/>
            <a:gdLst/>
            <a:ahLst/>
            <a:cxnLst/>
            <a:rect l="l" t="t" r="r" b="b"/>
            <a:pathLst>
              <a:path w="6409803" h="6409803">
                <a:moveTo>
                  <a:pt x="0" y="0"/>
                </a:moveTo>
                <a:lnTo>
                  <a:pt x="6409803" y="0"/>
                </a:lnTo>
                <a:lnTo>
                  <a:pt x="6409803" y="6409803"/>
                </a:lnTo>
                <a:lnTo>
                  <a:pt x="0" y="640980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1882961" y="0"/>
            <a:ext cx="6409803" cy="6409803"/>
          </a:xfrm>
          <a:custGeom>
            <a:avLst/>
            <a:gdLst/>
            <a:ahLst/>
            <a:cxnLst/>
            <a:rect l="l" t="t" r="r" b="b"/>
            <a:pathLst>
              <a:path w="6409803" h="6409803">
                <a:moveTo>
                  <a:pt x="6409803" y="6409803"/>
                </a:moveTo>
                <a:lnTo>
                  <a:pt x="0" y="6409803"/>
                </a:lnTo>
                <a:lnTo>
                  <a:pt x="0" y="0"/>
                </a:lnTo>
                <a:lnTo>
                  <a:pt x="6409803" y="0"/>
                </a:lnTo>
                <a:lnTo>
                  <a:pt x="6409803" y="6409803"/>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381000" y="2520315"/>
            <a:ext cx="5246370" cy="5246370"/>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505" r="-505"/>
              </a:stretch>
            </a:blipFill>
          </p:spPr>
        </p:sp>
      </p:grpSp>
      <p:sp>
        <p:nvSpPr>
          <p:cNvPr id="6" name="TextBox 6"/>
          <p:cNvSpPr txBox="1"/>
          <p:nvPr/>
        </p:nvSpPr>
        <p:spPr>
          <a:xfrm>
            <a:off x="5603557" y="3204901"/>
            <a:ext cx="12115800" cy="3662669"/>
          </a:xfrm>
          <a:prstGeom prst="rect">
            <a:avLst/>
          </a:prstGeom>
        </p:spPr>
        <p:txBody>
          <a:bodyPr wrap="square" lIns="0" tIns="0" rIns="0" bIns="0" rtlCol="0" anchor="t">
            <a:spAutoFit/>
          </a:bodyPr>
          <a:lstStyle/>
          <a:p>
            <a:pPr algn="ctr">
              <a:lnSpc>
                <a:spcPts val="7323"/>
              </a:lnSpc>
            </a:pPr>
            <a:r>
              <a:rPr lang="en-US" sz="4800" b="1" dirty="0">
                <a:solidFill>
                  <a:srgbClr val="406D41"/>
                </a:solidFill>
                <a:latin typeface="Montserrat" panose="00000500000000000000" pitchFamily="2" charset="0"/>
                <a:ea typeface="Ubuntu Bold"/>
                <a:cs typeface="Ubuntu Bold"/>
                <a:sym typeface="Ubuntu Bold"/>
              </a:rPr>
              <a:t>SECURING MOBILE TRANSACTIONS: </a:t>
            </a:r>
          </a:p>
          <a:p>
            <a:pPr algn="ctr">
              <a:lnSpc>
                <a:spcPts val="7323"/>
              </a:lnSpc>
            </a:pPr>
            <a:r>
              <a:rPr lang="en-US" sz="4800" b="1" dirty="0">
                <a:solidFill>
                  <a:srgbClr val="406D41"/>
                </a:solidFill>
                <a:latin typeface="Montserrat" panose="00000500000000000000" pitchFamily="2" charset="0"/>
                <a:ea typeface="Ubuntu Bold"/>
                <a:cs typeface="Ubuntu Bold"/>
                <a:sym typeface="Ubuntu Bold"/>
              </a:rPr>
              <a:t>A COMPARATIVE EVALUATION OF CNN ARCHITECTURES IN DETECTING DIGITAL RECEIPT FORGERY</a:t>
            </a:r>
          </a:p>
        </p:txBody>
      </p:sp>
      <p:sp>
        <p:nvSpPr>
          <p:cNvPr id="10" name="TextBox 9">
            <a:extLst>
              <a:ext uri="{FF2B5EF4-FFF2-40B4-BE49-F238E27FC236}">
                <a16:creationId xmlns:a16="http://schemas.microsoft.com/office/drawing/2014/main" id="{152178F9-E2C1-93EA-EF97-0FE6A562BC28}"/>
              </a:ext>
            </a:extLst>
          </p:cNvPr>
          <p:cNvSpPr txBox="1"/>
          <p:nvPr/>
        </p:nvSpPr>
        <p:spPr>
          <a:xfrm>
            <a:off x="15392400" y="8496300"/>
            <a:ext cx="3276600" cy="1323439"/>
          </a:xfrm>
          <a:prstGeom prst="rect">
            <a:avLst/>
          </a:prstGeom>
          <a:noFill/>
        </p:spPr>
        <p:txBody>
          <a:bodyPr wrap="square">
            <a:spAutoFit/>
          </a:bodyPr>
          <a:lstStyle/>
          <a:p>
            <a:r>
              <a:rPr lang="en-PH" sz="2000" b="1" dirty="0">
                <a:solidFill>
                  <a:schemeClr val="accent3">
                    <a:lumMod val="50000"/>
                  </a:schemeClr>
                </a:solidFill>
                <a:latin typeface="Montserrat" panose="00000500000000000000" pitchFamily="2" charset="0"/>
              </a:rPr>
              <a:t>Presented by:</a:t>
            </a:r>
          </a:p>
          <a:p>
            <a:pPr algn="r"/>
            <a:endParaRPr lang="en-PH" sz="2000" b="1" dirty="0">
              <a:solidFill>
                <a:schemeClr val="accent3">
                  <a:lumMod val="50000"/>
                </a:schemeClr>
              </a:solidFill>
              <a:latin typeface="Montserrat" panose="00000500000000000000" pitchFamily="2" charset="0"/>
            </a:endParaRPr>
          </a:p>
          <a:p>
            <a:r>
              <a:rPr lang="en-PH" sz="2000" b="1" dirty="0">
                <a:solidFill>
                  <a:schemeClr val="accent3">
                    <a:lumMod val="50000"/>
                  </a:schemeClr>
                </a:solidFill>
                <a:latin typeface="Montserrat" panose="00000500000000000000" pitchFamily="2" charset="0"/>
              </a:rPr>
              <a:t>Daniela S. </a:t>
            </a:r>
            <a:r>
              <a:rPr lang="en-PH" sz="2000" b="1" dirty="0" err="1">
                <a:solidFill>
                  <a:schemeClr val="accent3">
                    <a:lumMod val="50000"/>
                  </a:schemeClr>
                </a:solidFill>
                <a:latin typeface="Montserrat" panose="00000500000000000000" pitchFamily="2" charset="0"/>
              </a:rPr>
              <a:t>Ungab</a:t>
            </a:r>
            <a:endParaRPr lang="en-PH" sz="2000" b="1" dirty="0">
              <a:solidFill>
                <a:schemeClr val="accent3">
                  <a:lumMod val="50000"/>
                </a:schemeClr>
              </a:solidFill>
              <a:latin typeface="Montserrat" panose="00000500000000000000" pitchFamily="2" charset="0"/>
            </a:endParaRPr>
          </a:p>
          <a:p>
            <a:r>
              <a:rPr lang="en-PH" sz="2000" b="1" dirty="0">
                <a:solidFill>
                  <a:schemeClr val="accent3">
                    <a:lumMod val="50000"/>
                  </a:schemeClr>
                </a:solidFill>
                <a:latin typeface="Montserrat" panose="00000500000000000000" pitchFamily="2" charset="0"/>
              </a:rPr>
              <a:t>Rogie P. </a:t>
            </a:r>
            <a:r>
              <a:rPr lang="en-PH" sz="2000" b="1" dirty="0" err="1">
                <a:solidFill>
                  <a:schemeClr val="accent3">
                    <a:lumMod val="50000"/>
                  </a:schemeClr>
                </a:solidFill>
                <a:latin typeface="Montserrat" panose="00000500000000000000" pitchFamily="2" charset="0"/>
              </a:rPr>
              <a:t>Bacanto</a:t>
            </a:r>
            <a:endParaRPr lang="en-PH" sz="2000" b="1" dirty="0">
              <a:solidFill>
                <a:schemeClr val="accent3">
                  <a:lumMod val="50000"/>
                </a:schemeClr>
              </a:solidFill>
              <a:latin typeface="Montserrat" panose="00000500000000000000"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57200" y="5143500"/>
            <a:ext cx="6409803" cy="6409803"/>
          </a:xfrm>
          <a:custGeom>
            <a:avLst/>
            <a:gdLst/>
            <a:ahLst/>
            <a:cxnLst/>
            <a:rect l="l" t="t" r="r" b="b"/>
            <a:pathLst>
              <a:path w="6409803" h="6409803">
                <a:moveTo>
                  <a:pt x="0" y="0"/>
                </a:moveTo>
                <a:lnTo>
                  <a:pt x="6409803" y="0"/>
                </a:lnTo>
                <a:lnTo>
                  <a:pt x="6409803" y="6409803"/>
                </a:lnTo>
                <a:lnTo>
                  <a:pt x="0" y="640980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2615566" y="-571500"/>
            <a:ext cx="6409803" cy="6409803"/>
          </a:xfrm>
          <a:custGeom>
            <a:avLst/>
            <a:gdLst/>
            <a:ahLst/>
            <a:cxnLst/>
            <a:rect l="l" t="t" r="r" b="b"/>
            <a:pathLst>
              <a:path w="6409803" h="6409803">
                <a:moveTo>
                  <a:pt x="6409803" y="6409803"/>
                </a:moveTo>
                <a:lnTo>
                  <a:pt x="0" y="6409803"/>
                </a:lnTo>
                <a:lnTo>
                  <a:pt x="0" y="0"/>
                </a:lnTo>
                <a:lnTo>
                  <a:pt x="6409803" y="0"/>
                </a:lnTo>
                <a:lnTo>
                  <a:pt x="6409803" y="6409803"/>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509039" y="419100"/>
            <a:ext cx="14466879" cy="960006"/>
          </a:xfrm>
          <a:prstGeom prst="rect">
            <a:avLst/>
          </a:prstGeom>
        </p:spPr>
        <p:txBody>
          <a:bodyPr lIns="0" tIns="0" rIns="0" bIns="0" rtlCol="0" anchor="t">
            <a:spAutoFit/>
          </a:bodyPr>
          <a:lstStyle/>
          <a:p>
            <a:pPr algn="ctr">
              <a:lnSpc>
                <a:spcPts val="8400"/>
              </a:lnSpc>
            </a:pPr>
            <a:r>
              <a:rPr lang="en-US" sz="4400" b="1" dirty="0">
                <a:solidFill>
                  <a:srgbClr val="406D41"/>
                </a:solidFill>
                <a:latin typeface="Montserrat" panose="00000500000000000000" pitchFamily="2" charset="0"/>
                <a:ea typeface="Verdana" panose="020B0604030504040204" pitchFamily="34" charset="0"/>
                <a:cs typeface="Ubuntu Bold"/>
                <a:sym typeface="Ubuntu Bold"/>
              </a:rPr>
              <a:t>BACKGROUND / RATIONALE</a:t>
            </a:r>
          </a:p>
        </p:txBody>
      </p:sp>
      <p:sp>
        <p:nvSpPr>
          <p:cNvPr id="5" name="TextBox 5"/>
          <p:cNvSpPr txBox="1"/>
          <p:nvPr/>
        </p:nvSpPr>
        <p:spPr>
          <a:xfrm>
            <a:off x="571500" y="1714500"/>
            <a:ext cx="17145000" cy="7661969"/>
          </a:xfrm>
          <a:prstGeom prst="rect">
            <a:avLst/>
          </a:prstGeom>
        </p:spPr>
        <p:txBody>
          <a:bodyPr wrap="square" lIns="0" tIns="0" rIns="0" bIns="0" rtlCol="0" anchor="t">
            <a:spAutoFit/>
          </a:bodyPr>
          <a:lstStyle/>
          <a:p>
            <a:pPr marL="457200" indent="-457200" algn="just">
              <a:lnSpc>
                <a:spcPts val="5541"/>
              </a:lnSpc>
              <a:buFont typeface="Verdana" panose="020B0604030504040204" pitchFamily="34" charset="0"/>
              <a:buChar char="•"/>
            </a:pPr>
            <a:r>
              <a:rPr lang="en-US" sz="3000" b="1" dirty="0">
                <a:solidFill>
                  <a:srgbClr val="406D41"/>
                </a:solidFill>
                <a:latin typeface="Verdana" panose="020B0604030504040204" pitchFamily="34" charset="0"/>
                <a:ea typeface="Verdana" panose="020B0604030504040204" pitchFamily="34" charset="0"/>
                <a:cs typeface="Lato Bold"/>
                <a:sym typeface="Lato Bold"/>
              </a:rPr>
              <a:t>The growing reliance of small online sellers and student entrepreneurs on digital receipts from e-wallet platforms for transaction verification has led to a sharp rise in digital receipt forgery.</a:t>
            </a:r>
          </a:p>
          <a:p>
            <a:pPr marL="457200" indent="-457200" algn="just">
              <a:lnSpc>
                <a:spcPts val="5541"/>
              </a:lnSpc>
              <a:buFont typeface="Verdana" panose="020B0604030504040204" pitchFamily="34" charset="0"/>
              <a:buChar char="•"/>
            </a:pPr>
            <a:r>
              <a:rPr lang="en-US" sz="3000" b="1" dirty="0">
                <a:solidFill>
                  <a:srgbClr val="406D41"/>
                </a:solidFill>
                <a:latin typeface="Verdana" panose="020B0604030504040204" pitchFamily="34" charset="0"/>
                <a:ea typeface="Verdana" panose="020B0604030504040204" pitchFamily="34" charset="0"/>
                <a:cs typeface="Lato Bold"/>
                <a:sym typeface="Lato Bold"/>
              </a:rPr>
              <a:t>These local merchants are highly vulnerable to fraud because they often lack access to dedicated, resource-heavy fraud-detection tools.</a:t>
            </a:r>
          </a:p>
          <a:p>
            <a:pPr marL="457200" indent="-457200" algn="just">
              <a:lnSpc>
                <a:spcPts val="5541"/>
              </a:lnSpc>
              <a:buFont typeface="Verdana" panose="020B0604030504040204" pitchFamily="34" charset="0"/>
              <a:buChar char="•"/>
            </a:pPr>
            <a:r>
              <a:rPr lang="en-US" sz="3000" b="1" dirty="0">
                <a:solidFill>
                  <a:srgbClr val="406D41"/>
                </a:solidFill>
                <a:latin typeface="Verdana" panose="020B0604030504040204" pitchFamily="34" charset="0"/>
                <a:ea typeface="Verdana" panose="020B0604030504040204" pitchFamily="34" charset="0"/>
                <a:cs typeface="Lato Bold"/>
                <a:sym typeface="Lato Bold"/>
              </a:rPr>
              <a:t>The study focuses on comparing a Basic CNN, ResNet50, and MobileNetV2 to evaluate their effectiveness in spotting pixel-level tampering and digital forgery in e-wallet receipts. </a:t>
            </a:r>
          </a:p>
          <a:p>
            <a:pPr marL="457200" indent="-457200" algn="just">
              <a:lnSpc>
                <a:spcPts val="5541"/>
              </a:lnSpc>
              <a:buFont typeface="Verdana" panose="020B0604030504040204" pitchFamily="34" charset="0"/>
              <a:buChar char="•"/>
            </a:pPr>
            <a:r>
              <a:rPr lang="en-US" sz="3000" b="1" dirty="0">
                <a:solidFill>
                  <a:srgbClr val="406D41"/>
                </a:solidFill>
                <a:latin typeface="Verdana" panose="020B0604030504040204" pitchFamily="34" charset="0"/>
                <a:ea typeface="Verdana" panose="020B0604030504040204" pitchFamily="34" charset="0"/>
                <a:cs typeface="Lato Bold"/>
                <a:sym typeface="Lato Bold"/>
              </a:rPr>
              <a:t>The goal is to determine which architecture offers the best balance of detection accuracy and lightweight computational efficiency for everyday devices.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8C1C1-39EA-E838-DE8E-7D3ECBA0859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C9D8F67-2ABB-48F5-0C0B-C1809C2810E6}"/>
              </a:ext>
            </a:extLst>
          </p:cNvPr>
          <p:cNvSpPr/>
          <p:nvPr/>
        </p:nvSpPr>
        <p:spPr>
          <a:xfrm rot="-5400000">
            <a:off x="0" y="6591300"/>
            <a:ext cx="6409803" cy="6409803"/>
          </a:xfrm>
          <a:custGeom>
            <a:avLst/>
            <a:gdLst/>
            <a:ahLst/>
            <a:cxnLst/>
            <a:rect l="l" t="t" r="r" b="b"/>
            <a:pathLst>
              <a:path w="6409803" h="6409803">
                <a:moveTo>
                  <a:pt x="0" y="0"/>
                </a:moveTo>
                <a:lnTo>
                  <a:pt x="6409803" y="0"/>
                </a:lnTo>
                <a:lnTo>
                  <a:pt x="6409803" y="6409803"/>
                </a:lnTo>
                <a:lnTo>
                  <a:pt x="0" y="640980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E292DD19-6AFE-BCA6-9EBB-128E9BCF5E99}"/>
              </a:ext>
            </a:extLst>
          </p:cNvPr>
          <p:cNvSpPr/>
          <p:nvPr/>
        </p:nvSpPr>
        <p:spPr>
          <a:xfrm rot="-5400000" flipH="1" flipV="1">
            <a:off x="13563600" y="-190500"/>
            <a:ext cx="6409803" cy="6409803"/>
          </a:xfrm>
          <a:custGeom>
            <a:avLst/>
            <a:gdLst/>
            <a:ahLst/>
            <a:cxnLst/>
            <a:rect l="l" t="t" r="r" b="b"/>
            <a:pathLst>
              <a:path w="6409803" h="6409803">
                <a:moveTo>
                  <a:pt x="6409803" y="6409803"/>
                </a:moveTo>
                <a:lnTo>
                  <a:pt x="0" y="6409803"/>
                </a:lnTo>
                <a:lnTo>
                  <a:pt x="0" y="0"/>
                </a:lnTo>
                <a:lnTo>
                  <a:pt x="6409803" y="0"/>
                </a:lnTo>
                <a:lnTo>
                  <a:pt x="6409803" y="6409803"/>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a:extLst>
              <a:ext uri="{FF2B5EF4-FFF2-40B4-BE49-F238E27FC236}">
                <a16:creationId xmlns:a16="http://schemas.microsoft.com/office/drawing/2014/main" id="{743CEFC9-EB65-BA3B-3EBB-ECF894A80283}"/>
              </a:ext>
            </a:extLst>
          </p:cNvPr>
          <p:cNvSpPr txBox="1"/>
          <p:nvPr/>
        </p:nvSpPr>
        <p:spPr>
          <a:xfrm>
            <a:off x="-2509039" y="419100"/>
            <a:ext cx="14466879" cy="960006"/>
          </a:xfrm>
          <a:prstGeom prst="rect">
            <a:avLst/>
          </a:prstGeom>
        </p:spPr>
        <p:txBody>
          <a:bodyPr lIns="0" tIns="0" rIns="0" bIns="0" rtlCol="0" anchor="t">
            <a:spAutoFit/>
          </a:bodyPr>
          <a:lstStyle/>
          <a:p>
            <a:pPr algn="ctr">
              <a:lnSpc>
                <a:spcPts val="8400"/>
              </a:lnSpc>
            </a:pPr>
            <a:r>
              <a:rPr lang="en-US" sz="4400" b="1" dirty="0">
                <a:solidFill>
                  <a:srgbClr val="406D41"/>
                </a:solidFill>
                <a:latin typeface="Montserrat" panose="00000500000000000000" pitchFamily="2" charset="0"/>
                <a:ea typeface="Verdana" panose="020B0604030504040204" pitchFamily="34" charset="0"/>
                <a:cs typeface="Ubuntu Bold"/>
                <a:sym typeface="Ubuntu Bold"/>
              </a:rPr>
              <a:t>BACKGROUND / RATIONALE</a:t>
            </a:r>
          </a:p>
        </p:txBody>
      </p:sp>
      <p:sp>
        <p:nvSpPr>
          <p:cNvPr id="5" name="TextBox 5">
            <a:extLst>
              <a:ext uri="{FF2B5EF4-FFF2-40B4-BE49-F238E27FC236}">
                <a16:creationId xmlns:a16="http://schemas.microsoft.com/office/drawing/2014/main" id="{4CE242AC-752C-A57C-31C6-1B0A70E14C44}"/>
              </a:ext>
            </a:extLst>
          </p:cNvPr>
          <p:cNvSpPr txBox="1"/>
          <p:nvPr/>
        </p:nvSpPr>
        <p:spPr>
          <a:xfrm>
            <a:off x="571500" y="1500609"/>
            <a:ext cx="17145000" cy="6251327"/>
          </a:xfrm>
          <a:prstGeom prst="rect">
            <a:avLst/>
          </a:prstGeom>
        </p:spPr>
        <p:txBody>
          <a:bodyPr wrap="square" lIns="0" tIns="0" rIns="0" bIns="0" rtlCol="0" anchor="t">
            <a:spAutoFit/>
          </a:bodyPr>
          <a:lstStyle/>
          <a:p>
            <a:pPr marL="457200" indent="-457200" algn="just">
              <a:lnSpc>
                <a:spcPts val="5541"/>
              </a:lnSpc>
              <a:buFont typeface="Verdana" panose="020B0604030504040204" pitchFamily="34" charset="0"/>
              <a:buChar char="•"/>
            </a:pPr>
            <a:r>
              <a:rPr lang="en-US" sz="3000" b="1" dirty="0">
                <a:solidFill>
                  <a:srgbClr val="406D41"/>
                </a:solidFill>
                <a:latin typeface="Verdana" panose="020B0604030504040204" pitchFamily="34" charset="0"/>
                <a:ea typeface="Verdana" panose="020B0604030504040204" pitchFamily="34" charset="0"/>
                <a:cs typeface="Lato Bold"/>
                <a:sym typeface="Lato Bold"/>
              </a:rPr>
              <a:t>This study aligns with the CITE agenda for Cybersecurity Solutions for Small and Medium Enterprises (SMEs), which focuses on protecting local businesses from digital threats.</a:t>
            </a:r>
          </a:p>
          <a:p>
            <a:pPr marL="457200" indent="-457200" algn="just">
              <a:lnSpc>
                <a:spcPts val="5541"/>
              </a:lnSpc>
              <a:buFont typeface="Verdana" panose="020B0604030504040204" pitchFamily="34" charset="0"/>
              <a:buChar char="•"/>
            </a:pPr>
            <a:r>
              <a:rPr lang="en-US" sz="3000" b="1" dirty="0">
                <a:solidFill>
                  <a:srgbClr val="406D41"/>
                </a:solidFill>
                <a:latin typeface="Verdana" panose="020B0604030504040204" pitchFamily="34" charset="0"/>
                <a:ea typeface="Verdana" panose="020B0604030504040204" pitchFamily="34" charset="0"/>
                <a:cs typeface="Lato Bold"/>
                <a:sym typeface="Lato Bold"/>
              </a:rPr>
              <a:t>It also falls under CS Agendum 4: Cybersecurity Threat Detection and Prevention by developing approaches to detect fraudulent digital transactions.</a:t>
            </a:r>
          </a:p>
          <a:p>
            <a:pPr marL="457200" indent="-457200" algn="just">
              <a:lnSpc>
                <a:spcPts val="5541"/>
              </a:lnSpc>
              <a:buFont typeface="Verdana" panose="020B0604030504040204" pitchFamily="34" charset="0"/>
              <a:buChar char="•"/>
            </a:pPr>
            <a:r>
              <a:rPr lang="en-US" sz="3000" b="1" dirty="0">
                <a:solidFill>
                  <a:srgbClr val="406D41"/>
                </a:solidFill>
                <a:latin typeface="Verdana" panose="020B0604030504040204" pitchFamily="34" charset="0"/>
                <a:ea typeface="Verdana" panose="020B0604030504040204" pitchFamily="34" charset="0"/>
                <a:cs typeface="Lato Bold"/>
                <a:sym typeface="Lato Bold"/>
              </a:rPr>
              <a:t>Consequently, the research supports SDG 8 (Decent Work and Economic Growth), SDG 9 (Industry, Innovation, and Infrastructure), and SDG 16 (Peace, Justice, and Strong Institutions).</a:t>
            </a:r>
          </a:p>
        </p:txBody>
      </p:sp>
    </p:spTree>
    <p:extLst>
      <p:ext uri="{BB962C8B-B14F-4D97-AF65-F5344CB8AC3E}">
        <p14:creationId xmlns:p14="http://schemas.microsoft.com/office/powerpoint/2010/main" val="1255657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762000" y="5038283"/>
            <a:ext cx="6409803" cy="6409803"/>
          </a:xfrm>
          <a:custGeom>
            <a:avLst/>
            <a:gdLst/>
            <a:ahLst/>
            <a:cxnLst/>
            <a:rect l="l" t="t" r="r" b="b"/>
            <a:pathLst>
              <a:path w="6409803" h="6409803">
                <a:moveTo>
                  <a:pt x="0" y="0"/>
                </a:moveTo>
                <a:lnTo>
                  <a:pt x="6409803" y="0"/>
                </a:lnTo>
                <a:lnTo>
                  <a:pt x="6409803" y="6409803"/>
                </a:lnTo>
                <a:lnTo>
                  <a:pt x="0" y="640980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flipH="1" flipV="1">
            <a:off x="12640199" y="-419100"/>
            <a:ext cx="6409803" cy="6409803"/>
          </a:xfrm>
          <a:custGeom>
            <a:avLst/>
            <a:gdLst/>
            <a:ahLst/>
            <a:cxnLst/>
            <a:rect l="l" t="t" r="r" b="b"/>
            <a:pathLst>
              <a:path w="6409803" h="6409803">
                <a:moveTo>
                  <a:pt x="6409803" y="6409803"/>
                </a:moveTo>
                <a:lnTo>
                  <a:pt x="0" y="6409803"/>
                </a:lnTo>
                <a:lnTo>
                  <a:pt x="0" y="0"/>
                </a:lnTo>
                <a:lnTo>
                  <a:pt x="6409803" y="0"/>
                </a:lnTo>
                <a:lnTo>
                  <a:pt x="6409803" y="6409803"/>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505845" y="600643"/>
            <a:ext cx="15477236" cy="942374"/>
          </a:xfrm>
          <a:prstGeom prst="rect">
            <a:avLst/>
          </a:prstGeom>
        </p:spPr>
        <p:txBody>
          <a:bodyPr lIns="0" tIns="0" rIns="0" bIns="0" rtlCol="0" anchor="t">
            <a:spAutoFit/>
          </a:bodyPr>
          <a:lstStyle/>
          <a:p>
            <a:pPr algn="l">
              <a:lnSpc>
                <a:spcPts val="8400"/>
              </a:lnSpc>
            </a:pPr>
            <a:r>
              <a:rPr lang="en-US" sz="4400" b="1" dirty="0">
                <a:solidFill>
                  <a:srgbClr val="406D41"/>
                </a:solidFill>
                <a:latin typeface="Montserrat" panose="00000500000000000000" pitchFamily="2" charset="0"/>
                <a:ea typeface="Ubuntu Bold"/>
                <a:cs typeface="Ubuntu Bold"/>
                <a:sym typeface="Ubuntu Bold"/>
              </a:rPr>
              <a:t>STATEMENT OF THE PROBLEM</a:t>
            </a:r>
          </a:p>
        </p:txBody>
      </p:sp>
      <p:sp>
        <p:nvSpPr>
          <p:cNvPr id="5" name="TextBox 5"/>
          <p:cNvSpPr txBox="1"/>
          <p:nvPr/>
        </p:nvSpPr>
        <p:spPr>
          <a:xfrm>
            <a:off x="505845" y="2043815"/>
            <a:ext cx="17183266" cy="6700168"/>
          </a:xfrm>
          <a:prstGeom prst="rect">
            <a:avLst/>
          </a:prstGeom>
        </p:spPr>
        <p:txBody>
          <a:bodyPr lIns="0" tIns="0" rIns="0" bIns="0" rtlCol="0" anchor="t">
            <a:spAutoFit/>
          </a:bodyPr>
          <a:lstStyle/>
          <a:p>
            <a:pPr algn="just">
              <a:lnSpc>
                <a:spcPts val="5941"/>
              </a:lnSpc>
            </a:pPr>
            <a:r>
              <a:rPr lang="en-US" sz="3000" b="1" dirty="0">
                <a:solidFill>
                  <a:srgbClr val="406D41"/>
                </a:solidFill>
                <a:latin typeface="Verdana" panose="020B0604030504040204" pitchFamily="34" charset="0"/>
                <a:ea typeface="Verdana" panose="020B0604030504040204" pitchFamily="34" charset="0"/>
                <a:cs typeface="Lato Bold"/>
                <a:sym typeface="Lato Bold"/>
              </a:rPr>
              <a:t>	The rise of mobile wallets has led to widespread screenshot-based fraud, where scammers use fake transaction receipts to deceive sellers. While AI detection tools exist, their effectiveness against the heavy compression typical of messaging apps remains underexplored, and it is unclear which neural network architecture is best suited for resource-constrained small merchants.</a:t>
            </a:r>
          </a:p>
          <a:p>
            <a:pPr algn="just">
              <a:lnSpc>
                <a:spcPts val="5941"/>
              </a:lnSpc>
            </a:pPr>
            <a:endParaRPr lang="en-US" sz="3000" b="1" dirty="0">
              <a:solidFill>
                <a:srgbClr val="406D41"/>
              </a:solidFill>
              <a:latin typeface="Verdana" panose="020B0604030504040204" pitchFamily="34" charset="0"/>
              <a:ea typeface="Verdana" panose="020B0604030504040204" pitchFamily="34" charset="0"/>
              <a:cs typeface="Lato Bold"/>
              <a:sym typeface="Lato Bold"/>
            </a:endParaRPr>
          </a:p>
          <a:p>
            <a:pPr algn="just">
              <a:lnSpc>
                <a:spcPts val="5941"/>
              </a:lnSpc>
            </a:pPr>
            <a:r>
              <a:rPr lang="en-US" sz="3000" b="1" dirty="0">
                <a:solidFill>
                  <a:srgbClr val="406D41"/>
                </a:solidFill>
                <a:latin typeface="Verdana" panose="020B0604030504040204" pitchFamily="34" charset="0"/>
                <a:ea typeface="Verdana" panose="020B0604030504040204" pitchFamily="34" charset="0"/>
                <a:cs typeface="Lato Bold"/>
                <a:sym typeface="Lato Bold"/>
              </a:rPr>
              <a:t>	To address this gap, this study evaluates a Basic CNN, ResNet50, and MobileNetV2 to identify the most practical balance of accuracy, efficiency, and real-world </a:t>
            </a:r>
            <a:r>
              <a:rPr lang="en-US" sz="3000" b="1" dirty="0" err="1">
                <a:solidFill>
                  <a:srgbClr val="406D41"/>
                </a:solidFill>
                <a:latin typeface="Verdana" panose="020B0604030504040204" pitchFamily="34" charset="0"/>
                <a:ea typeface="Verdana" panose="020B0604030504040204" pitchFamily="34" charset="0"/>
                <a:cs typeface="Lato Bold"/>
                <a:sym typeface="Lato Bold"/>
              </a:rPr>
              <a:t>deployability</a:t>
            </a:r>
            <a:r>
              <a:rPr lang="en-US" sz="3000" b="1" dirty="0">
                <a:solidFill>
                  <a:srgbClr val="406D41"/>
                </a:solidFill>
                <a:latin typeface="Verdana" panose="020B0604030504040204" pitchFamily="34" charset="0"/>
                <a:ea typeface="Verdana" panose="020B0604030504040204" pitchFamily="34" charset="0"/>
                <a:cs typeface="Lato Bold"/>
                <a:sym typeface="Lato Bold"/>
              </a:rPr>
              <a:t> for detecting forged digital wallet receipts. </a:t>
            </a:r>
          </a:p>
        </p:txBody>
      </p:sp>
    </p:spTree>
    <p:extLst>
      <p:ext uri="{BB962C8B-B14F-4D97-AF65-F5344CB8AC3E}">
        <p14:creationId xmlns:p14="http://schemas.microsoft.com/office/powerpoint/2010/main" val="388760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B3425-6D0C-920B-CFEB-0E83D507A1C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8419D53-D442-69B8-65DD-2FD78447F0BC}"/>
              </a:ext>
            </a:extLst>
          </p:cNvPr>
          <p:cNvSpPr/>
          <p:nvPr/>
        </p:nvSpPr>
        <p:spPr>
          <a:xfrm rot="-5400000">
            <a:off x="0" y="7429500"/>
            <a:ext cx="6409803" cy="6409803"/>
          </a:xfrm>
          <a:custGeom>
            <a:avLst/>
            <a:gdLst/>
            <a:ahLst/>
            <a:cxnLst/>
            <a:rect l="l" t="t" r="r" b="b"/>
            <a:pathLst>
              <a:path w="6409803" h="6409803">
                <a:moveTo>
                  <a:pt x="0" y="0"/>
                </a:moveTo>
                <a:lnTo>
                  <a:pt x="6409803" y="0"/>
                </a:lnTo>
                <a:lnTo>
                  <a:pt x="6409803" y="6409803"/>
                </a:lnTo>
                <a:lnTo>
                  <a:pt x="0" y="640980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222E1A70-334C-0AF6-097D-90FDC1F9A0BA}"/>
              </a:ext>
            </a:extLst>
          </p:cNvPr>
          <p:cNvSpPr/>
          <p:nvPr/>
        </p:nvSpPr>
        <p:spPr>
          <a:xfrm rot="-5400000" flipH="1" flipV="1">
            <a:off x="12877800" y="-495300"/>
            <a:ext cx="6409803" cy="6409803"/>
          </a:xfrm>
          <a:custGeom>
            <a:avLst/>
            <a:gdLst/>
            <a:ahLst/>
            <a:cxnLst/>
            <a:rect l="l" t="t" r="r" b="b"/>
            <a:pathLst>
              <a:path w="6409803" h="6409803">
                <a:moveTo>
                  <a:pt x="6409803" y="6409803"/>
                </a:moveTo>
                <a:lnTo>
                  <a:pt x="0" y="6409803"/>
                </a:lnTo>
                <a:lnTo>
                  <a:pt x="0" y="0"/>
                </a:lnTo>
                <a:lnTo>
                  <a:pt x="6409803" y="0"/>
                </a:lnTo>
                <a:lnTo>
                  <a:pt x="6409803" y="6409803"/>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a:extLst>
              <a:ext uri="{FF2B5EF4-FFF2-40B4-BE49-F238E27FC236}">
                <a16:creationId xmlns:a16="http://schemas.microsoft.com/office/drawing/2014/main" id="{04AAD4BD-21A1-25F0-885D-38B2EC68EDF6}"/>
              </a:ext>
            </a:extLst>
          </p:cNvPr>
          <p:cNvSpPr txBox="1"/>
          <p:nvPr/>
        </p:nvSpPr>
        <p:spPr>
          <a:xfrm>
            <a:off x="552367" y="419100"/>
            <a:ext cx="15477236" cy="947375"/>
          </a:xfrm>
          <a:prstGeom prst="rect">
            <a:avLst/>
          </a:prstGeom>
        </p:spPr>
        <p:txBody>
          <a:bodyPr lIns="0" tIns="0" rIns="0" bIns="0" rtlCol="0" anchor="t">
            <a:spAutoFit/>
          </a:bodyPr>
          <a:lstStyle/>
          <a:p>
            <a:pPr algn="l">
              <a:lnSpc>
                <a:spcPts val="8400"/>
              </a:lnSpc>
            </a:pPr>
            <a:r>
              <a:rPr lang="en-US" sz="4400" b="1" dirty="0">
                <a:solidFill>
                  <a:srgbClr val="406D41"/>
                </a:solidFill>
                <a:latin typeface="Montserrat" panose="00000500000000000000" pitchFamily="2" charset="0"/>
                <a:ea typeface="Ubuntu Bold"/>
                <a:cs typeface="Ubuntu Bold"/>
                <a:sym typeface="Ubuntu Bold"/>
              </a:rPr>
              <a:t>STATEMENT OF THE PROBLEM</a:t>
            </a:r>
          </a:p>
        </p:txBody>
      </p:sp>
      <p:sp>
        <p:nvSpPr>
          <p:cNvPr id="5" name="TextBox 5">
            <a:extLst>
              <a:ext uri="{FF2B5EF4-FFF2-40B4-BE49-F238E27FC236}">
                <a16:creationId xmlns:a16="http://schemas.microsoft.com/office/drawing/2014/main" id="{30A1B6F5-80F8-A7FD-8F16-A5BEAB775700}"/>
              </a:ext>
            </a:extLst>
          </p:cNvPr>
          <p:cNvSpPr txBox="1"/>
          <p:nvPr/>
        </p:nvSpPr>
        <p:spPr>
          <a:xfrm>
            <a:off x="552367" y="1790700"/>
            <a:ext cx="17183266" cy="7524111"/>
          </a:xfrm>
          <a:prstGeom prst="rect">
            <a:avLst/>
          </a:prstGeom>
        </p:spPr>
        <p:txBody>
          <a:bodyPr lIns="0" tIns="0" rIns="0" bIns="0" rtlCol="0" anchor="t">
            <a:spAutoFit/>
          </a:bodyPr>
          <a:lstStyle/>
          <a:p>
            <a:pPr algn="just">
              <a:lnSpc>
                <a:spcPct val="150000"/>
              </a:lnSpc>
            </a:pPr>
            <a:r>
              <a:rPr lang="en-US" sz="3000" b="1" dirty="0">
                <a:solidFill>
                  <a:srgbClr val="406D41"/>
                </a:solidFill>
                <a:latin typeface="Verdana" panose="020B0604030504040204" pitchFamily="34" charset="0"/>
                <a:ea typeface="Verdana" panose="020B0604030504040204" pitchFamily="34" charset="0"/>
                <a:cs typeface="Lato Bold"/>
                <a:sym typeface="Lato Bold"/>
              </a:rPr>
              <a:t>1.	What is the classification accuracy of the Basic CNN, ResNet50, and MobileNetV2 models in detecting:</a:t>
            </a:r>
          </a:p>
          <a:p>
            <a:pPr lvl="2" algn="just">
              <a:lnSpc>
                <a:spcPct val="150000"/>
              </a:lnSpc>
            </a:pPr>
            <a:r>
              <a:rPr lang="en-US" sz="3000" b="1" dirty="0">
                <a:solidFill>
                  <a:srgbClr val="406D41"/>
                </a:solidFill>
                <a:latin typeface="Verdana" panose="020B0604030504040204" pitchFamily="34" charset="0"/>
                <a:ea typeface="Verdana" panose="020B0604030504040204" pitchFamily="34" charset="0"/>
                <a:cs typeface="Lato Bold"/>
                <a:sym typeface="Lato Bold"/>
              </a:rPr>
              <a:t>1.1. Manually edited transaction receipts (e.g., modified text or amounts)</a:t>
            </a:r>
          </a:p>
          <a:p>
            <a:pPr lvl="2" algn="just">
              <a:lnSpc>
                <a:spcPct val="150000"/>
              </a:lnSpc>
            </a:pPr>
            <a:r>
              <a:rPr lang="en-US" sz="3000" b="1" dirty="0">
                <a:solidFill>
                  <a:srgbClr val="406D41"/>
                </a:solidFill>
                <a:latin typeface="Verdana" panose="020B0604030504040204" pitchFamily="34" charset="0"/>
                <a:ea typeface="Verdana" panose="020B0604030504040204" pitchFamily="34" charset="0"/>
                <a:cs typeface="Lato Bold"/>
                <a:sym typeface="Lato Bold"/>
              </a:rPr>
              <a:t>1.2. Programmatically generated fake transaction receipts</a:t>
            </a:r>
          </a:p>
          <a:p>
            <a:pPr algn="just">
              <a:lnSpc>
                <a:spcPct val="150000"/>
              </a:lnSpc>
            </a:pPr>
            <a:r>
              <a:rPr lang="en-US" sz="3000" b="1" dirty="0">
                <a:solidFill>
                  <a:srgbClr val="406D41"/>
                </a:solidFill>
                <a:latin typeface="Verdana" panose="020B0604030504040204" pitchFamily="34" charset="0"/>
                <a:ea typeface="Verdana" panose="020B0604030504040204" pitchFamily="34" charset="0"/>
                <a:cs typeface="Lato Bold"/>
                <a:sym typeface="Lato Bold"/>
              </a:rPr>
              <a:t>2.	What is the performance of the three models in classifying an image as authentic or fabricated using standard machine learning metrics in terms of:</a:t>
            </a:r>
          </a:p>
          <a:p>
            <a:pPr lvl="2" algn="just">
              <a:lnSpc>
                <a:spcPct val="150000"/>
              </a:lnSpc>
            </a:pPr>
            <a:r>
              <a:rPr lang="en-US" sz="3000" b="1" dirty="0">
                <a:solidFill>
                  <a:srgbClr val="406D41"/>
                </a:solidFill>
                <a:latin typeface="Verdana" panose="020B0604030504040204" pitchFamily="34" charset="0"/>
                <a:ea typeface="Verdana" panose="020B0604030504040204" pitchFamily="34" charset="0"/>
                <a:cs typeface="Lato Bold"/>
                <a:sym typeface="Lato Bold"/>
              </a:rPr>
              <a:t>2.1. Precision</a:t>
            </a:r>
          </a:p>
          <a:p>
            <a:pPr lvl="2" algn="just">
              <a:lnSpc>
                <a:spcPct val="150000"/>
              </a:lnSpc>
            </a:pPr>
            <a:r>
              <a:rPr lang="en-US" sz="3000" b="1" dirty="0">
                <a:solidFill>
                  <a:srgbClr val="406D41"/>
                </a:solidFill>
                <a:latin typeface="Verdana" panose="020B0604030504040204" pitchFamily="34" charset="0"/>
                <a:ea typeface="Verdana" panose="020B0604030504040204" pitchFamily="34" charset="0"/>
                <a:cs typeface="Lato Bold"/>
                <a:sym typeface="Lato Bold"/>
              </a:rPr>
              <a:t>2.2. Recall</a:t>
            </a:r>
          </a:p>
          <a:p>
            <a:pPr lvl="2" algn="just">
              <a:lnSpc>
                <a:spcPct val="150000"/>
              </a:lnSpc>
            </a:pPr>
            <a:r>
              <a:rPr lang="en-US" sz="3000" b="1" dirty="0">
                <a:solidFill>
                  <a:srgbClr val="406D41"/>
                </a:solidFill>
                <a:latin typeface="Verdana" panose="020B0604030504040204" pitchFamily="34" charset="0"/>
                <a:ea typeface="Verdana" panose="020B0604030504040204" pitchFamily="34" charset="0"/>
                <a:cs typeface="Lato Bold"/>
                <a:sym typeface="Lato Bold"/>
              </a:rPr>
              <a:t>2.3. F1-score</a:t>
            </a:r>
          </a:p>
          <a:p>
            <a:pPr algn="just">
              <a:lnSpc>
                <a:spcPct val="150000"/>
              </a:lnSpc>
            </a:pPr>
            <a:r>
              <a:rPr lang="en-US" sz="3000" b="1" dirty="0">
                <a:solidFill>
                  <a:srgbClr val="406D41"/>
                </a:solidFill>
                <a:latin typeface="Verdana" panose="020B0604030504040204" pitchFamily="34" charset="0"/>
                <a:ea typeface="Verdana" panose="020B0604030504040204" pitchFamily="34" charset="0"/>
                <a:cs typeface="Lato Bold"/>
                <a:sym typeface="Lato Bold"/>
              </a:rPr>
              <a:t>3.	What is the inference speed and computational resource requirement of each of the three models?</a:t>
            </a:r>
          </a:p>
        </p:txBody>
      </p:sp>
    </p:spTree>
    <p:extLst>
      <p:ext uri="{BB962C8B-B14F-4D97-AF65-F5344CB8AC3E}">
        <p14:creationId xmlns:p14="http://schemas.microsoft.com/office/powerpoint/2010/main" val="6124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47502-424C-2D4A-89C5-A8B8EB1F0E5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534DCCD-8C53-52C4-33BC-C5920ACAD306}"/>
              </a:ext>
            </a:extLst>
          </p:cNvPr>
          <p:cNvSpPr/>
          <p:nvPr/>
        </p:nvSpPr>
        <p:spPr>
          <a:xfrm rot="-5400000">
            <a:off x="0" y="7429500"/>
            <a:ext cx="6409803" cy="6409803"/>
          </a:xfrm>
          <a:custGeom>
            <a:avLst/>
            <a:gdLst/>
            <a:ahLst/>
            <a:cxnLst/>
            <a:rect l="l" t="t" r="r" b="b"/>
            <a:pathLst>
              <a:path w="6409803" h="6409803">
                <a:moveTo>
                  <a:pt x="0" y="0"/>
                </a:moveTo>
                <a:lnTo>
                  <a:pt x="6409803" y="0"/>
                </a:lnTo>
                <a:lnTo>
                  <a:pt x="6409803" y="6409803"/>
                </a:lnTo>
                <a:lnTo>
                  <a:pt x="0" y="640980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F50B153F-FA0F-C4A3-6FD9-7FD12A8D1349}"/>
              </a:ext>
            </a:extLst>
          </p:cNvPr>
          <p:cNvSpPr/>
          <p:nvPr/>
        </p:nvSpPr>
        <p:spPr>
          <a:xfrm rot="-5400000" flipH="1" flipV="1">
            <a:off x="12877800" y="-495300"/>
            <a:ext cx="6409803" cy="6409803"/>
          </a:xfrm>
          <a:custGeom>
            <a:avLst/>
            <a:gdLst/>
            <a:ahLst/>
            <a:cxnLst/>
            <a:rect l="l" t="t" r="r" b="b"/>
            <a:pathLst>
              <a:path w="6409803" h="6409803">
                <a:moveTo>
                  <a:pt x="6409803" y="6409803"/>
                </a:moveTo>
                <a:lnTo>
                  <a:pt x="0" y="6409803"/>
                </a:lnTo>
                <a:lnTo>
                  <a:pt x="0" y="0"/>
                </a:lnTo>
                <a:lnTo>
                  <a:pt x="6409803" y="0"/>
                </a:lnTo>
                <a:lnTo>
                  <a:pt x="6409803" y="6409803"/>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a:extLst>
              <a:ext uri="{FF2B5EF4-FFF2-40B4-BE49-F238E27FC236}">
                <a16:creationId xmlns:a16="http://schemas.microsoft.com/office/drawing/2014/main" id="{78E00E83-1A55-FD13-3A67-0D68A998FDDF}"/>
              </a:ext>
            </a:extLst>
          </p:cNvPr>
          <p:cNvSpPr txBox="1"/>
          <p:nvPr/>
        </p:nvSpPr>
        <p:spPr>
          <a:xfrm>
            <a:off x="521767" y="699357"/>
            <a:ext cx="15477236" cy="922047"/>
          </a:xfrm>
          <a:prstGeom prst="rect">
            <a:avLst/>
          </a:prstGeom>
        </p:spPr>
        <p:txBody>
          <a:bodyPr lIns="0" tIns="0" rIns="0" bIns="0" rtlCol="0" anchor="t">
            <a:spAutoFit/>
          </a:bodyPr>
          <a:lstStyle/>
          <a:p>
            <a:pPr algn="l">
              <a:lnSpc>
                <a:spcPts val="8400"/>
              </a:lnSpc>
            </a:pPr>
            <a:r>
              <a:rPr lang="en-US" sz="4400" b="1" dirty="0">
                <a:solidFill>
                  <a:srgbClr val="406D41"/>
                </a:solidFill>
                <a:latin typeface="Ubuntu Bold"/>
                <a:ea typeface="Ubuntu Bold"/>
                <a:cs typeface="Ubuntu Bold"/>
                <a:sym typeface="Ubuntu Bold"/>
              </a:rPr>
              <a:t>STATEMENT OF THE PROBLEM</a:t>
            </a:r>
          </a:p>
        </p:txBody>
      </p:sp>
      <p:sp>
        <p:nvSpPr>
          <p:cNvPr id="5" name="TextBox 5">
            <a:extLst>
              <a:ext uri="{FF2B5EF4-FFF2-40B4-BE49-F238E27FC236}">
                <a16:creationId xmlns:a16="http://schemas.microsoft.com/office/drawing/2014/main" id="{BB161752-B5D2-76F8-FBCC-DC67C69844DD}"/>
              </a:ext>
            </a:extLst>
          </p:cNvPr>
          <p:cNvSpPr txBox="1"/>
          <p:nvPr/>
        </p:nvSpPr>
        <p:spPr>
          <a:xfrm>
            <a:off x="521767" y="2005120"/>
            <a:ext cx="17183266" cy="4754122"/>
          </a:xfrm>
          <a:prstGeom prst="rect">
            <a:avLst/>
          </a:prstGeom>
        </p:spPr>
        <p:txBody>
          <a:bodyPr lIns="0" tIns="0" rIns="0" bIns="0" rtlCol="0" anchor="t">
            <a:spAutoFit/>
          </a:bodyPr>
          <a:lstStyle/>
          <a:p>
            <a:pPr algn="just">
              <a:lnSpc>
                <a:spcPct val="150000"/>
              </a:lnSpc>
            </a:pPr>
            <a:r>
              <a:rPr lang="en-US" sz="3000" b="1" dirty="0">
                <a:solidFill>
                  <a:srgbClr val="406D41"/>
                </a:solidFill>
                <a:latin typeface="Verdana" panose="020B0604030504040204" pitchFamily="34" charset="0"/>
                <a:ea typeface="Verdana" panose="020B0604030504040204" pitchFamily="34" charset="0"/>
                <a:cs typeface="Lato Bold"/>
                <a:sym typeface="Lato Bold"/>
              </a:rPr>
              <a:t>4.	Is there a significant difference in classification accuracy among the three models when analyzing:</a:t>
            </a:r>
          </a:p>
          <a:p>
            <a:pPr lvl="2" algn="just">
              <a:lnSpc>
                <a:spcPct val="150000"/>
              </a:lnSpc>
            </a:pPr>
            <a:r>
              <a:rPr lang="en-US" sz="3000" b="1" dirty="0">
                <a:solidFill>
                  <a:srgbClr val="406D41"/>
                </a:solidFill>
                <a:latin typeface="Verdana" panose="020B0604030504040204" pitchFamily="34" charset="0"/>
                <a:ea typeface="Verdana" panose="020B0604030504040204" pitchFamily="34" charset="0"/>
                <a:cs typeface="Lato Bold"/>
                <a:sym typeface="Lato Bold"/>
              </a:rPr>
              <a:t>4.1. Original high-resolution screenshots</a:t>
            </a:r>
          </a:p>
          <a:p>
            <a:pPr lvl="2" algn="just">
              <a:lnSpc>
                <a:spcPct val="150000"/>
              </a:lnSpc>
            </a:pPr>
            <a:r>
              <a:rPr lang="en-US" sz="3000" b="1" dirty="0">
                <a:solidFill>
                  <a:srgbClr val="406D41"/>
                </a:solidFill>
                <a:latin typeface="Verdana" panose="020B0604030504040204" pitchFamily="34" charset="0"/>
                <a:ea typeface="Verdana" panose="020B0604030504040204" pitchFamily="34" charset="0"/>
                <a:cs typeface="Lato Bold"/>
                <a:sym typeface="Lato Bold"/>
              </a:rPr>
              <a:t>4.2. Heavily compressed images</a:t>
            </a:r>
          </a:p>
          <a:p>
            <a:pPr algn="just">
              <a:lnSpc>
                <a:spcPct val="150000"/>
              </a:lnSpc>
            </a:pPr>
            <a:r>
              <a:rPr lang="en-US" sz="3000" b="1" dirty="0">
                <a:solidFill>
                  <a:srgbClr val="406D41"/>
                </a:solidFill>
                <a:latin typeface="Verdana" panose="020B0604030504040204" pitchFamily="34" charset="0"/>
                <a:ea typeface="Verdana" panose="020B0604030504040204" pitchFamily="34" charset="0"/>
                <a:cs typeface="Lato Bold"/>
                <a:sym typeface="Lato Bold"/>
              </a:rPr>
              <a:t>5.	Which of the three architectures offers the most practical balance of accuracy and efficiency for real-world transaction verification by local online sellers at </a:t>
            </a:r>
            <a:r>
              <a:rPr lang="en-US" sz="3000" b="1" dirty="0" err="1">
                <a:solidFill>
                  <a:srgbClr val="406D41"/>
                </a:solidFill>
                <a:latin typeface="Verdana" panose="020B0604030504040204" pitchFamily="34" charset="0"/>
                <a:ea typeface="Verdana" panose="020B0604030504040204" pitchFamily="34" charset="0"/>
                <a:cs typeface="Lato Bold"/>
                <a:sym typeface="Lato Bold"/>
              </a:rPr>
              <a:t>Midsayap</a:t>
            </a:r>
            <a:r>
              <a:rPr lang="en-US" sz="3000" b="1" dirty="0">
                <a:solidFill>
                  <a:srgbClr val="406D41"/>
                </a:solidFill>
                <a:latin typeface="Verdana" panose="020B0604030504040204" pitchFamily="34" charset="0"/>
                <a:ea typeface="Verdana" panose="020B0604030504040204" pitchFamily="34" charset="0"/>
                <a:cs typeface="Lato Bold"/>
                <a:sym typeface="Lato Bold"/>
              </a:rPr>
              <a:t>, North Cotabato?</a:t>
            </a:r>
          </a:p>
        </p:txBody>
      </p:sp>
    </p:spTree>
    <p:extLst>
      <p:ext uri="{BB962C8B-B14F-4D97-AF65-F5344CB8AC3E}">
        <p14:creationId xmlns:p14="http://schemas.microsoft.com/office/powerpoint/2010/main" val="2449735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11" y="5995893"/>
            <a:ext cx="6409803" cy="6409803"/>
          </a:xfrm>
          <a:custGeom>
            <a:avLst/>
            <a:gdLst/>
            <a:ahLst/>
            <a:cxnLst/>
            <a:rect l="l" t="t" r="r" b="b"/>
            <a:pathLst>
              <a:path w="6409803" h="6409803">
                <a:moveTo>
                  <a:pt x="0" y="0"/>
                </a:moveTo>
                <a:lnTo>
                  <a:pt x="6409803" y="0"/>
                </a:lnTo>
                <a:lnTo>
                  <a:pt x="6409803" y="6409803"/>
                </a:lnTo>
                <a:lnTo>
                  <a:pt x="0" y="640980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flipH="1" flipV="1">
            <a:off x="12573000" y="-1502606"/>
            <a:ext cx="6409803" cy="6409803"/>
          </a:xfrm>
          <a:custGeom>
            <a:avLst/>
            <a:gdLst/>
            <a:ahLst/>
            <a:cxnLst/>
            <a:rect l="l" t="t" r="r" b="b"/>
            <a:pathLst>
              <a:path w="6409803" h="6409803">
                <a:moveTo>
                  <a:pt x="6409803" y="6409803"/>
                </a:moveTo>
                <a:lnTo>
                  <a:pt x="0" y="6409803"/>
                </a:lnTo>
                <a:lnTo>
                  <a:pt x="0" y="0"/>
                </a:lnTo>
                <a:lnTo>
                  <a:pt x="6409803" y="0"/>
                </a:lnTo>
                <a:lnTo>
                  <a:pt x="6409803" y="640980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PH" dirty="0"/>
          </a:p>
        </p:txBody>
      </p:sp>
      <p:sp>
        <p:nvSpPr>
          <p:cNvPr id="4" name="TextBox 4"/>
          <p:cNvSpPr txBox="1"/>
          <p:nvPr/>
        </p:nvSpPr>
        <p:spPr>
          <a:xfrm>
            <a:off x="-533400" y="297454"/>
            <a:ext cx="11103469" cy="956993"/>
          </a:xfrm>
          <a:prstGeom prst="rect">
            <a:avLst/>
          </a:prstGeom>
        </p:spPr>
        <p:txBody>
          <a:bodyPr lIns="0" tIns="0" rIns="0" bIns="0" rtlCol="0" anchor="t">
            <a:spAutoFit/>
          </a:bodyPr>
          <a:lstStyle/>
          <a:p>
            <a:pPr algn="ctr">
              <a:lnSpc>
                <a:spcPts val="8529"/>
              </a:lnSpc>
            </a:pPr>
            <a:r>
              <a:rPr lang="en-US" sz="4400" b="1" dirty="0">
                <a:solidFill>
                  <a:srgbClr val="406D41"/>
                </a:solidFill>
                <a:latin typeface="Montserrat" panose="00000500000000000000" pitchFamily="2" charset="0"/>
                <a:ea typeface="Ubuntu Bold"/>
                <a:cs typeface="Ubuntu Bold"/>
                <a:sym typeface="Ubuntu Bold"/>
              </a:rPr>
              <a:t>SIGNIFICANCE OF THE STUDY </a:t>
            </a:r>
          </a:p>
        </p:txBody>
      </p:sp>
      <p:sp>
        <p:nvSpPr>
          <p:cNvPr id="5" name="TextBox 5"/>
          <p:cNvSpPr txBox="1"/>
          <p:nvPr/>
        </p:nvSpPr>
        <p:spPr>
          <a:xfrm>
            <a:off x="533400" y="1609205"/>
            <a:ext cx="17221200" cy="7456785"/>
          </a:xfrm>
          <a:prstGeom prst="rect">
            <a:avLst/>
          </a:prstGeom>
        </p:spPr>
        <p:txBody>
          <a:bodyPr wrap="square" lIns="0" tIns="0" rIns="0" bIns="0" rtlCol="0" anchor="t">
            <a:spAutoFit/>
          </a:bodyPr>
          <a:lstStyle/>
          <a:p>
            <a:pPr marL="910443" lvl="1" indent="-457200" algn="just">
              <a:lnSpc>
                <a:spcPts val="5878"/>
              </a:lnSpc>
              <a:buFont typeface="Arial" panose="020B0604020202020204" pitchFamily="34" charset="0"/>
              <a:buChar char="•"/>
            </a:pPr>
            <a:r>
              <a:rPr lang="en-US" sz="3000" dirty="0">
                <a:solidFill>
                  <a:srgbClr val="406D41"/>
                </a:solidFill>
                <a:latin typeface="Verdana" panose="020B0604030504040204" pitchFamily="34" charset="0"/>
                <a:ea typeface="Verdana" panose="020B0604030504040204" pitchFamily="34" charset="0"/>
                <a:cs typeface="Lato Bold"/>
                <a:sym typeface="Lato Bold"/>
              </a:rPr>
              <a:t>Protects </a:t>
            </a:r>
            <a:r>
              <a:rPr lang="en-US" sz="3000" b="1" dirty="0">
                <a:solidFill>
                  <a:srgbClr val="406D41"/>
                </a:solidFill>
                <a:latin typeface="Verdana" panose="020B0604030504040204" pitchFamily="34" charset="0"/>
                <a:ea typeface="Verdana" panose="020B0604030504040204" pitchFamily="34" charset="0"/>
                <a:cs typeface="Lato Bold"/>
                <a:sym typeface="Lato Bold"/>
              </a:rPr>
              <a:t>local online sellers </a:t>
            </a:r>
            <a:r>
              <a:rPr lang="en-US" sz="3000" dirty="0">
                <a:solidFill>
                  <a:srgbClr val="406D41"/>
                </a:solidFill>
                <a:latin typeface="Verdana" panose="020B0604030504040204" pitchFamily="34" charset="0"/>
                <a:ea typeface="Verdana" panose="020B0604030504040204" pitchFamily="34" charset="0"/>
                <a:cs typeface="Lato Bold"/>
                <a:sym typeface="Lato Bold"/>
              </a:rPr>
              <a:t>by offering a practical, benchmarked tool to verify payment authenticity before releasing goods or services. </a:t>
            </a:r>
          </a:p>
          <a:p>
            <a:pPr marL="910443" lvl="1" indent="-457200" algn="just">
              <a:lnSpc>
                <a:spcPts val="5878"/>
              </a:lnSpc>
              <a:buFont typeface="Arial" panose="020B0604020202020204" pitchFamily="34" charset="0"/>
              <a:buChar char="•"/>
            </a:pPr>
            <a:r>
              <a:rPr lang="en-US" sz="3000" dirty="0">
                <a:solidFill>
                  <a:srgbClr val="406D41"/>
                </a:solidFill>
                <a:latin typeface="Verdana" panose="020B0604030504040204" pitchFamily="34" charset="0"/>
                <a:ea typeface="Verdana" panose="020B0604030504040204" pitchFamily="34" charset="0"/>
                <a:cs typeface="Lato Bold"/>
                <a:sym typeface="Lato Bold"/>
              </a:rPr>
              <a:t>Equips </a:t>
            </a:r>
            <a:r>
              <a:rPr lang="en-US" sz="3000" b="1" dirty="0">
                <a:solidFill>
                  <a:srgbClr val="406D41"/>
                </a:solidFill>
                <a:latin typeface="Verdana" panose="020B0604030504040204" pitchFamily="34" charset="0"/>
                <a:ea typeface="Verdana" panose="020B0604030504040204" pitchFamily="34" charset="0"/>
                <a:cs typeface="Lato Bold"/>
                <a:sym typeface="Lato Bold"/>
              </a:rPr>
              <a:t>small business owners in </a:t>
            </a:r>
            <a:r>
              <a:rPr lang="en-US" sz="3000" b="1" dirty="0" err="1">
                <a:solidFill>
                  <a:srgbClr val="406D41"/>
                </a:solidFill>
                <a:latin typeface="Verdana" panose="020B0604030504040204" pitchFamily="34" charset="0"/>
                <a:ea typeface="Verdana" panose="020B0604030504040204" pitchFamily="34" charset="0"/>
                <a:cs typeface="Lato Bold"/>
                <a:sym typeface="Lato Bold"/>
              </a:rPr>
              <a:t>Midsayap</a:t>
            </a:r>
            <a:r>
              <a:rPr lang="en-US" sz="3000" b="1" dirty="0">
                <a:solidFill>
                  <a:srgbClr val="406D41"/>
                </a:solidFill>
                <a:latin typeface="Verdana" panose="020B0604030504040204" pitchFamily="34" charset="0"/>
                <a:ea typeface="Verdana" panose="020B0604030504040204" pitchFamily="34" charset="0"/>
                <a:cs typeface="Lato Bold"/>
                <a:sym typeface="Lato Bold"/>
              </a:rPr>
              <a:t> </a:t>
            </a:r>
            <a:r>
              <a:rPr lang="en-US" sz="3000" dirty="0">
                <a:solidFill>
                  <a:srgbClr val="406D41"/>
                </a:solidFill>
                <a:latin typeface="Verdana" panose="020B0604030504040204" pitchFamily="34" charset="0"/>
                <a:ea typeface="Verdana" panose="020B0604030504040204" pitchFamily="34" charset="0"/>
                <a:cs typeface="Lato Bold"/>
                <a:sym typeface="Lato Bold"/>
              </a:rPr>
              <a:t>with a fast, reliable method to verify in-person mobile wallet payments on the spot. </a:t>
            </a:r>
          </a:p>
          <a:p>
            <a:pPr marL="910443" lvl="1" indent="-457200" algn="just">
              <a:lnSpc>
                <a:spcPts val="5878"/>
              </a:lnSpc>
              <a:buFont typeface="Arial" panose="020B0604020202020204" pitchFamily="34" charset="0"/>
              <a:buChar char="•"/>
            </a:pPr>
            <a:r>
              <a:rPr lang="en-US" sz="3000" dirty="0">
                <a:solidFill>
                  <a:srgbClr val="406D41"/>
                </a:solidFill>
                <a:latin typeface="Verdana" panose="020B0604030504040204" pitchFamily="34" charset="0"/>
                <a:ea typeface="Verdana" panose="020B0604030504040204" pitchFamily="34" charset="0"/>
                <a:cs typeface="Lato Bold"/>
                <a:sym typeface="Lato Bold"/>
              </a:rPr>
              <a:t> Empowers </a:t>
            </a:r>
            <a:r>
              <a:rPr lang="en-US" sz="3000" b="1" dirty="0">
                <a:solidFill>
                  <a:srgbClr val="406D41"/>
                </a:solidFill>
                <a:latin typeface="Verdana" panose="020B0604030504040204" pitchFamily="34" charset="0"/>
                <a:ea typeface="Verdana" panose="020B0604030504040204" pitchFamily="34" charset="0"/>
                <a:cs typeface="Lato Bold"/>
                <a:sym typeface="Lato Bold"/>
              </a:rPr>
              <a:t>NDMC student entrepreneurs </a:t>
            </a:r>
            <a:r>
              <a:rPr lang="en-US" sz="3000" dirty="0">
                <a:solidFill>
                  <a:srgbClr val="406D41"/>
                </a:solidFill>
                <a:latin typeface="Verdana" panose="020B0604030504040204" pitchFamily="34" charset="0"/>
                <a:ea typeface="Verdana" panose="020B0604030504040204" pitchFamily="34" charset="0"/>
                <a:cs typeface="Lato Bold"/>
                <a:sym typeface="Lato Bold"/>
              </a:rPr>
              <a:t>with an accessible means of confirming transactions to protect their small-scale businesses from scams.  </a:t>
            </a:r>
          </a:p>
          <a:p>
            <a:pPr marL="910443" lvl="1" indent="-457200" algn="just">
              <a:lnSpc>
                <a:spcPts val="5878"/>
              </a:lnSpc>
              <a:buFont typeface="Arial" panose="020B0604020202020204" pitchFamily="34" charset="0"/>
              <a:buChar char="•"/>
            </a:pPr>
            <a:r>
              <a:rPr lang="en-US" sz="3000" dirty="0">
                <a:solidFill>
                  <a:srgbClr val="406D41"/>
                </a:solidFill>
                <a:latin typeface="Verdana" panose="020B0604030504040204" pitchFamily="34" charset="0"/>
                <a:ea typeface="Verdana" panose="020B0604030504040204" pitchFamily="34" charset="0"/>
                <a:cs typeface="Lato Bold"/>
                <a:sym typeface="Lato Bold"/>
              </a:rPr>
              <a:t>Assists </a:t>
            </a:r>
            <a:r>
              <a:rPr lang="en-US" sz="3000" b="1" dirty="0">
                <a:solidFill>
                  <a:srgbClr val="406D41"/>
                </a:solidFill>
                <a:latin typeface="Verdana" panose="020B0604030504040204" pitchFamily="34" charset="0"/>
                <a:ea typeface="Verdana" panose="020B0604030504040204" pitchFamily="34" charset="0"/>
                <a:cs typeface="Lato Bold"/>
                <a:sym typeface="Lato Bold"/>
              </a:rPr>
              <a:t>mobile wallet platforms</a:t>
            </a:r>
            <a:r>
              <a:rPr lang="en-US" sz="3000" dirty="0">
                <a:solidFill>
                  <a:srgbClr val="406D41"/>
                </a:solidFill>
                <a:latin typeface="Verdana" panose="020B0604030504040204" pitchFamily="34" charset="0"/>
                <a:ea typeface="Verdana" panose="020B0604030504040204" pitchFamily="34" charset="0"/>
                <a:cs typeface="Lato Bold"/>
                <a:sym typeface="Lato Bold"/>
              </a:rPr>
              <a:t> by providing comparative findings they can use to select or strengthen their built-in fraud detection features.  </a:t>
            </a:r>
          </a:p>
          <a:p>
            <a:pPr marL="910443" lvl="1" indent="-457200" algn="just">
              <a:lnSpc>
                <a:spcPts val="5878"/>
              </a:lnSpc>
              <a:buFont typeface="Arial" panose="020B0604020202020204" pitchFamily="34" charset="0"/>
              <a:buChar char="•"/>
            </a:pPr>
            <a:r>
              <a:rPr lang="en-US" sz="3000" dirty="0">
                <a:solidFill>
                  <a:srgbClr val="406D41"/>
                </a:solidFill>
                <a:latin typeface="Verdana" panose="020B0604030504040204" pitchFamily="34" charset="0"/>
                <a:ea typeface="Verdana" panose="020B0604030504040204" pitchFamily="34" charset="0"/>
                <a:cs typeface="Lato Bold"/>
                <a:sym typeface="Lato Bold"/>
              </a:rPr>
              <a:t>Expands the growing body of work in image forensics by offering a domain-specific comparative benchmark of CNN architectures for </a:t>
            </a:r>
            <a:r>
              <a:rPr lang="en-US" sz="3000" b="1" dirty="0">
                <a:solidFill>
                  <a:srgbClr val="406D41"/>
                </a:solidFill>
                <a:latin typeface="Verdana" panose="020B0604030504040204" pitchFamily="34" charset="0"/>
                <a:ea typeface="Verdana" panose="020B0604030504040204" pitchFamily="34" charset="0"/>
                <a:cs typeface="Lato Bold"/>
                <a:sym typeface="Lato Bold"/>
              </a:rPr>
              <a:t>future researchers</a:t>
            </a:r>
            <a:r>
              <a:rPr lang="en-US" sz="3000" dirty="0">
                <a:solidFill>
                  <a:srgbClr val="406D41"/>
                </a:solidFill>
                <a:latin typeface="Verdana" panose="020B0604030504040204" pitchFamily="34" charset="0"/>
                <a:ea typeface="Verdana" panose="020B0604030504040204" pitchFamily="34" charset="0"/>
                <a:cs typeface="Lato Bold"/>
                <a:sym typeface="Lato Bold"/>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57782" y="4446811"/>
            <a:ext cx="6409803" cy="6409803"/>
          </a:xfrm>
          <a:custGeom>
            <a:avLst/>
            <a:gdLst/>
            <a:ahLst/>
            <a:cxnLst/>
            <a:rect l="l" t="t" r="r" b="b"/>
            <a:pathLst>
              <a:path w="6409803" h="6409803">
                <a:moveTo>
                  <a:pt x="0" y="0"/>
                </a:moveTo>
                <a:lnTo>
                  <a:pt x="6409803" y="0"/>
                </a:lnTo>
                <a:lnTo>
                  <a:pt x="6409803" y="6409803"/>
                </a:lnTo>
                <a:lnTo>
                  <a:pt x="0" y="640980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flipH="1" flipV="1">
            <a:off x="12272335" y="-435968"/>
            <a:ext cx="6409803" cy="6409803"/>
          </a:xfrm>
          <a:custGeom>
            <a:avLst/>
            <a:gdLst/>
            <a:ahLst/>
            <a:cxnLst/>
            <a:rect l="l" t="t" r="r" b="b"/>
            <a:pathLst>
              <a:path w="6409803" h="6409803">
                <a:moveTo>
                  <a:pt x="6409803" y="6409803"/>
                </a:moveTo>
                <a:lnTo>
                  <a:pt x="0" y="6409803"/>
                </a:lnTo>
                <a:lnTo>
                  <a:pt x="0" y="0"/>
                </a:lnTo>
                <a:lnTo>
                  <a:pt x="6409803" y="0"/>
                </a:lnTo>
                <a:lnTo>
                  <a:pt x="6409803" y="6409803"/>
                </a:lnTo>
                <a:close/>
              </a:path>
            </a:pathLst>
          </a:custGeom>
          <a:blipFill>
            <a:blip>
              <a:extLst>
                <a:ext uri="{96DAC541-7B7A-43D3-8B79-37D633B846F1}">
                  <asvg:svgBlip xmlns:asvg="http://schemas.microsoft.com/office/drawing/2016/SVG/main" r:embed="rId2"/>
                </a:ext>
              </a:extLst>
            </a:blip>
            <a:stretch>
              <a:fillRect/>
            </a:stretch>
          </a:blipFill>
        </p:spPr>
      </p:sp>
      <p:sp>
        <p:nvSpPr>
          <p:cNvPr id="5" name="TextBox 4">
            <a:extLst>
              <a:ext uri="{FF2B5EF4-FFF2-40B4-BE49-F238E27FC236}">
                <a16:creationId xmlns:a16="http://schemas.microsoft.com/office/drawing/2014/main" id="{8CA42C15-0039-40BC-974D-E29D01995734}"/>
              </a:ext>
            </a:extLst>
          </p:cNvPr>
          <p:cNvSpPr txBox="1"/>
          <p:nvPr/>
        </p:nvSpPr>
        <p:spPr>
          <a:xfrm>
            <a:off x="990600" y="495300"/>
            <a:ext cx="11103469" cy="956993"/>
          </a:xfrm>
          <a:prstGeom prst="rect">
            <a:avLst/>
          </a:prstGeom>
        </p:spPr>
        <p:txBody>
          <a:bodyPr lIns="0" tIns="0" rIns="0" bIns="0" rtlCol="0" anchor="t">
            <a:spAutoFit/>
          </a:bodyPr>
          <a:lstStyle/>
          <a:p>
            <a:pPr>
              <a:lnSpc>
                <a:spcPts val="8529"/>
              </a:lnSpc>
            </a:pPr>
            <a:r>
              <a:rPr lang="en-US" sz="4400" b="1" dirty="0">
                <a:solidFill>
                  <a:srgbClr val="406D41"/>
                </a:solidFill>
                <a:latin typeface="Montserrat" panose="00000500000000000000" pitchFamily="2" charset="0"/>
                <a:ea typeface="Ubuntu Bold"/>
                <a:cs typeface="Ubuntu Bold"/>
                <a:sym typeface="Ubuntu Bold"/>
              </a:rPr>
              <a:t>FEASIBILITY</a:t>
            </a:r>
          </a:p>
        </p:txBody>
      </p:sp>
      <p:graphicFrame>
        <p:nvGraphicFramePr>
          <p:cNvPr id="6" name="Table 5">
            <a:extLst>
              <a:ext uri="{FF2B5EF4-FFF2-40B4-BE49-F238E27FC236}">
                <a16:creationId xmlns:a16="http://schemas.microsoft.com/office/drawing/2014/main" id="{F8673DCE-83C6-CEBC-BEC6-61C326BFD8AC}"/>
              </a:ext>
            </a:extLst>
          </p:cNvPr>
          <p:cNvGraphicFramePr>
            <a:graphicFrameLocks noGrp="1"/>
          </p:cNvGraphicFramePr>
          <p:nvPr>
            <p:extLst>
              <p:ext uri="{D42A27DB-BD31-4B8C-83A1-F6EECF244321}">
                <p14:modId xmlns:p14="http://schemas.microsoft.com/office/powerpoint/2010/main" val="757021706"/>
              </p:ext>
            </p:extLst>
          </p:nvPr>
        </p:nvGraphicFramePr>
        <p:xfrm>
          <a:off x="962247" y="1896843"/>
          <a:ext cx="16459200" cy="7445807"/>
        </p:xfrm>
        <a:graphic>
          <a:graphicData uri="http://schemas.openxmlformats.org/drawingml/2006/table">
            <a:tbl>
              <a:tblPr firstRow="1" bandRow="1">
                <a:tableStyleId>{69C7853C-536D-4A76-A0AE-DD22124D55A5}</a:tableStyleId>
              </a:tblPr>
              <a:tblGrid>
                <a:gridCol w="4219353">
                  <a:extLst>
                    <a:ext uri="{9D8B030D-6E8A-4147-A177-3AD203B41FA5}">
                      <a16:colId xmlns:a16="http://schemas.microsoft.com/office/drawing/2014/main" val="1379024979"/>
                    </a:ext>
                  </a:extLst>
                </a:gridCol>
                <a:gridCol w="5867400">
                  <a:extLst>
                    <a:ext uri="{9D8B030D-6E8A-4147-A177-3AD203B41FA5}">
                      <a16:colId xmlns:a16="http://schemas.microsoft.com/office/drawing/2014/main" val="848388436"/>
                    </a:ext>
                  </a:extLst>
                </a:gridCol>
                <a:gridCol w="6372447">
                  <a:extLst>
                    <a:ext uri="{9D8B030D-6E8A-4147-A177-3AD203B41FA5}">
                      <a16:colId xmlns:a16="http://schemas.microsoft.com/office/drawing/2014/main" val="3577969585"/>
                    </a:ext>
                  </a:extLst>
                </a:gridCol>
              </a:tblGrid>
              <a:tr h="558627">
                <a:tc>
                  <a:txBody>
                    <a:bodyPr/>
                    <a:lstStyle/>
                    <a:p>
                      <a:r>
                        <a:rPr lang="en-PH" sz="2400" b="1" dirty="0">
                          <a:latin typeface="Montserrat" panose="00000500000000000000" pitchFamily="2" charset="0"/>
                        </a:rPr>
                        <a:t>Resource Category</a:t>
                      </a:r>
                    </a:p>
                  </a:txBody>
                  <a:tcPr/>
                </a:tc>
                <a:tc>
                  <a:txBody>
                    <a:bodyPr/>
                    <a:lstStyle/>
                    <a:p>
                      <a:r>
                        <a:rPr lang="en-PH" sz="2400" b="1" dirty="0">
                          <a:latin typeface="Montserrat" panose="00000500000000000000" pitchFamily="2" charset="0"/>
                        </a:rPr>
                        <a:t>Description &amp; Tools</a:t>
                      </a:r>
                    </a:p>
                  </a:txBody>
                  <a:tcPr/>
                </a:tc>
                <a:tc>
                  <a:txBody>
                    <a:bodyPr/>
                    <a:lstStyle/>
                    <a:p>
                      <a:r>
                        <a:rPr lang="en-PH" sz="2400" b="1" dirty="0">
                          <a:latin typeface="Montserrat" panose="00000500000000000000" pitchFamily="2" charset="0"/>
                        </a:rPr>
                        <a:t>Reason for Selection</a:t>
                      </a:r>
                    </a:p>
                  </a:txBody>
                  <a:tcPr/>
                </a:tc>
                <a:extLst>
                  <a:ext uri="{0D108BD9-81ED-4DB2-BD59-A6C34878D82A}">
                    <a16:rowId xmlns:a16="http://schemas.microsoft.com/office/drawing/2014/main" val="4154526815"/>
                  </a:ext>
                </a:extLst>
              </a:tr>
              <a:tr h="1377436">
                <a:tc>
                  <a:txBody>
                    <a:bodyPr/>
                    <a:lstStyle/>
                    <a:p>
                      <a:r>
                        <a:rPr lang="en-PH" sz="2400" b="1" dirty="0">
                          <a:latin typeface="Montserrat" panose="00000500000000000000" pitchFamily="2" charset="0"/>
                        </a:rPr>
                        <a:t>Data Source</a:t>
                      </a:r>
                    </a:p>
                  </a:txBody>
                  <a:tcPr/>
                </a:tc>
                <a:tc>
                  <a:txBody>
                    <a:bodyPr/>
                    <a:lstStyle/>
                    <a:p>
                      <a:r>
                        <a:rPr lang="en-PH" sz="2400" b="1" dirty="0">
                          <a:latin typeface="Montserrat" panose="00000500000000000000" pitchFamily="2" charset="0"/>
                        </a:rPr>
                        <a:t>Custom dataset of simulated </a:t>
                      </a:r>
                      <a:r>
                        <a:rPr lang="en-PH" sz="2400" b="1" dirty="0" err="1">
                          <a:latin typeface="Montserrat" panose="00000500000000000000" pitchFamily="2" charset="0"/>
                        </a:rPr>
                        <a:t>GCash</a:t>
                      </a:r>
                      <a:r>
                        <a:rPr lang="en-PH" sz="2400" b="1" dirty="0">
                          <a:latin typeface="Montserrat" panose="00000500000000000000" pitchFamily="2" charset="0"/>
                        </a:rPr>
                        <a:t> receipts</a:t>
                      </a:r>
                    </a:p>
                  </a:txBody>
                  <a:tcPr/>
                </a:tc>
                <a:tc>
                  <a:txBody>
                    <a:bodyPr/>
                    <a:lstStyle/>
                    <a:p>
                      <a:r>
                        <a:rPr lang="en-PH" sz="2400" b="1" dirty="0">
                          <a:latin typeface="Montserrat" panose="00000500000000000000" pitchFamily="2" charset="0"/>
                        </a:rPr>
                        <a:t>Trains the models on the exact local formats, fonts, and layouts they will encounter in real life.</a:t>
                      </a:r>
                    </a:p>
                  </a:txBody>
                  <a:tcPr/>
                </a:tc>
                <a:extLst>
                  <a:ext uri="{0D108BD9-81ED-4DB2-BD59-A6C34878D82A}">
                    <a16:rowId xmlns:a16="http://schemas.microsoft.com/office/drawing/2014/main" val="1439965216"/>
                  </a:ext>
                </a:extLst>
              </a:tr>
              <a:tr h="1377436">
                <a:tc>
                  <a:txBody>
                    <a:bodyPr/>
                    <a:lstStyle/>
                    <a:p>
                      <a:r>
                        <a:rPr lang="en-PH" sz="2400" b="1" dirty="0">
                          <a:latin typeface="Montserrat" panose="00000500000000000000" pitchFamily="2" charset="0"/>
                        </a:rPr>
                        <a:t>Training Environment</a:t>
                      </a:r>
                    </a:p>
                  </a:txBody>
                  <a:tcPr/>
                </a:tc>
                <a:tc>
                  <a:txBody>
                    <a:bodyPr/>
                    <a:lstStyle/>
                    <a:p>
                      <a:r>
                        <a:rPr lang="en-PH" sz="2400" b="1" dirty="0">
                          <a:latin typeface="Montserrat" panose="00000500000000000000" pitchFamily="2" charset="0"/>
                        </a:rPr>
                        <a:t>Cloud-based processing (Google </a:t>
                      </a:r>
                      <a:r>
                        <a:rPr lang="en-PH" sz="2400" b="1" dirty="0" err="1">
                          <a:latin typeface="Montserrat" panose="00000500000000000000" pitchFamily="2" charset="0"/>
                        </a:rPr>
                        <a:t>Colab</a:t>
                      </a:r>
                      <a:r>
                        <a:rPr lang="en-PH" sz="2400" b="1" dirty="0">
                          <a:latin typeface="Montserrat" panose="00000500000000000000" pitchFamily="2" charset="0"/>
                        </a:rPr>
                        <a:t>)</a:t>
                      </a:r>
                    </a:p>
                  </a:txBody>
                  <a:tcPr/>
                </a:tc>
                <a:tc>
                  <a:txBody>
                    <a:bodyPr/>
                    <a:lstStyle/>
                    <a:p>
                      <a:r>
                        <a:rPr lang="en-PH" sz="2400" b="1" dirty="0">
                          <a:latin typeface="Montserrat" panose="00000500000000000000" pitchFamily="2" charset="0"/>
                        </a:rPr>
                        <a:t>Provides high-performance GPUs to accelerate heavy model training without expensive hardware.</a:t>
                      </a:r>
                    </a:p>
                  </a:txBody>
                  <a:tcPr/>
                </a:tc>
                <a:extLst>
                  <a:ext uri="{0D108BD9-81ED-4DB2-BD59-A6C34878D82A}">
                    <a16:rowId xmlns:a16="http://schemas.microsoft.com/office/drawing/2014/main" val="4063477742"/>
                  </a:ext>
                </a:extLst>
              </a:tr>
              <a:tr h="1377436">
                <a:tc>
                  <a:txBody>
                    <a:bodyPr/>
                    <a:lstStyle/>
                    <a:p>
                      <a:r>
                        <a:rPr lang="en-PH" sz="2400" b="1" dirty="0">
                          <a:latin typeface="Montserrat" panose="00000500000000000000" pitchFamily="2" charset="0"/>
                        </a:rPr>
                        <a:t>Core Models</a:t>
                      </a:r>
                    </a:p>
                  </a:txBody>
                  <a:tcPr/>
                </a:tc>
                <a:tc>
                  <a:txBody>
                    <a:bodyPr/>
                    <a:lstStyle/>
                    <a:p>
                      <a:r>
                        <a:rPr lang="en-PH" sz="2400" b="1" dirty="0">
                          <a:latin typeface="Montserrat" panose="00000500000000000000" pitchFamily="2" charset="0"/>
                        </a:rPr>
                        <a:t>Mobile-efficient architectures (MobileNetV2, Custom CNN)</a:t>
                      </a:r>
                    </a:p>
                  </a:txBody>
                  <a:tcPr/>
                </a:tc>
                <a:tc>
                  <a:txBody>
                    <a:bodyPr/>
                    <a:lstStyle/>
                    <a:p>
                      <a:r>
                        <a:rPr lang="en-PH" sz="2400" b="1" dirty="0">
                          <a:latin typeface="Montserrat" panose="00000500000000000000" pitchFamily="2" charset="0"/>
                        </a:rPr>
                        <a:t>Ensures fast processing and low latency, making it ideal if the system scales to mobile devices later.</a:t>
                      </a:r>
                    </a:p>
                  </a:txBody>
                  <a:tcPr/>
                </a:tc>
                <a:extLst>
                  <a:ext uri="{0D108BD9-81ED-4DB2-BD59-A6C34878D82A}">
                    <a16:rowId xmlns:a16="http://schemas.microsoft.com/office/drawing/2014/main" val="3448014398"/>
                  </a:ext>
                </a:extLst>
              </a:tr>
              <a:tr h="1377436">
                <a:tc>
                  <a:txBody>
                    <a:bodyPr/>
                    <a:lstStyle/>
                    <a:p>
                      <a:r>
                        <a:rPr lang="en-PH" sz="2400" b="1" dirty="0">
                          <a:latin typeface="Montserrat" panose="00000500000000000000" pitchFamily="2" charset="0"/>
                        </a:rPr>
                        <a:t>Backend Stack</a:t>
                      </a:r>
                    </a:p>
                  </a:txBody>
                  <a:tcPr/>
                </a:tc>
                <a:tc>
                  <a:txBody>
                    <a:bodyPr/>
                    <a:lstStyle/>
                    <a:p>
                      <a:r>
                        <a:rPr lang="en-PH" sz="2400" b="1" dirty="0">
                          <a:latin typeface="Montserrat" panose="00000500000000000000" pitchFamily="2" charset="0"/>
                        </a:rPr>
                        <a:t>Python (Image processing &amp; detection logic)</a:t>
                      </a:r>
                    </a:p>
                  </a:txBody>
                  <a:tcPr/>
                </a:tc>
                <a:tc>
                  <a:txBody>
                    <a:bodyPr/>
                    <a:lstStyle/>
                    <a:p>
                      <a:r>
                        <a:rPr lang="en-PH" sz="2400" b="1" dirty="0">
                          <a:latin typeface="Montserrat" panose="00000500000000000000" pitchFamily="2" charset="0"/>
                        </a:rPr>
                        <a:t>The industry standard language, offering the best libraries for machine learning and computer vision.</a:t>
                      </a:r>
                    </a:p>
                  </a:txBody>
                  <a:tcPr/>
                </a:tc>
                <a:extLst>
                  <a:ext uri="{0D108BD9-81ED-4DB2-BD59-A6C34878D82A}">
                    <a16:rowId xmlns:a16="http://schemas.microsoft.com/office/drawing/2014/main" val="44188068"/>
                  </a:ext>
                </a:extLst>
              </a:tr>
              <a:tr h="1377436">
                <a:tc>
                  <a:txBody>
                    <a:bodyPr/>
                    <a:lstStyle/>
                    <a:p>
                      <a:r>
                        <a:rPr lang="en-PH" sz="2400" b="1" dirty="0">
                          <a:latin typeface="Montserrat" panose="00000500000000000000" pitchFamily="2" charset="0"/>
                        </a:rPr>
                        <a:t>Frontend UI</a:t>
                      </a:r>
                    </a:p>
                  </a:txBody>
                  <a:tcPr/>
                </a:tc>
                <a:tc>
                  <a:txBody>
                    <a:bodyPr/>
                    <a:lstStyle/>
                    <a:p>
                      <a:r>
                        <a:rPr lang="en-PH" sz="2400" b="1" dirty="0">
                          <a:latin typeface="Montserrat" panose="00000500000000000000" pitchFamily="2" charset="0"/>
                        </a:rPr>
                        <a:t>Web Application (</a:t>
                      </a:r>
                      <a:r>
                        <a:rPr lang="en-PH" sz="2400" b="1" dirty="0" err="1">
                          <a:latin typeface="Montserrat" panose="00000500000000000000" pitchFamily="2" charset="0"/>
                        </a:rPr>
                        <a:t>Streamlit</a:t>
                      </a:r>
                      <a:r>
                        <a:rPr lang="en-PH" sz="2400" b="1" dirty="0">
                          <a:latin typeface="Montserrat" panose="00000500000000000000" pitchFamily="2" charset="0"/>
                        </a:rPr>
                        <a:t> / Flask)</a:t>
                      </a:r>
                    </a:p>
                  </a:txBody>
                  <a:tcPr/>
                </a:tc>
                <a:tc>
                  <a:txBody>
                    <a:bodyPr/>
                    <a:lstStyle/>
                    <a:p>
                      <a:r>
                        <a:rPr lang="en-PH" sz="2400" b="1" dirty="0">
                          <a:latin typeface="Montserrat" panose="00000500000000000000" pitchFamily="2" charset="0"/>
                        </a:rPr>
                        <a:t>Enables rapid deployment and provides a simple, interactive way to test and demonstrate the models.</a:t>
                      </a:r>
                    </a:p>
                  </a:txBody>
                  <a:tcPr/>
                </a:tc>
                <a:extLst>
                  <a:ext uri="{0D108BD9-81ED-4DB2-BD59-A6C34878D82A}">
                    <a16:rowId xmlns:a16="http://schemas.microsoft.com/office/drawing/2014/main" val="2938709433"/>
                  </a:ext>
                </a:extLst>
              </a:tr>
            </a:tbl>
          </a:graphicData>
        </a:graphic>
      </p:graphicFrame>
    </p:spTree>
    <p:extLst>
      <p:ext uri="{BB962C8B-B14F-4D97-AF65-F5344CB8AC3E}">
        <p14:creationId xmlns:p14="http://schemas.microsoft.com/office/powerpoint/2010/main" val="1119952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57782" y="4446811"/>
            <a:ext cx="6409803" cy="6409803"/>
          </a:xfrm>
          <a:custGeom>
            <a:avLst/>
            <a:gdLst/>
            <a:ahLst/>
            <a:cxnLst/>
            <a:rect l="l" t="t" r="r" b="b"/>
            <a:pathLst>
              <a:path w="6409803" h="6409803">
                <a:moveTo>
                  <a:pt x="0" y="0"/>
                </a:moveTo>
                <a:lnTo>
                  <a:pt x="6409803" y="0"/>
                </a:lnTo>
                <a:lnTo>
                  <a:pt x="6409803" y="6409803"/>
                </a:lnTo>
                <a:lnTo>
                  <a:pt x="0" y="640980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2272335" y="-435968"/>
            <a:ext cx="6409803" cy="6409803"/>
          </a:xfrm>
          <a:custGeom>
            <a:avLst/>
            <a:gdLst/>
            <a:ahLst/>
            <a:cxnLst/>
            <a:rect l="l" t="t" r="r" b="b"/>
            <a:pathLst>
              <a:path w="6409803" h="6409803">
                <a:moveTo>
                  <a:pt x="6409803" y="6409803"/>
                </a:moveTo>
                <a:lnTo>
                  <a:pt x="0" y="6409803"/>
                </a:lnTo>
                <a:lnTo>
                  <a:pt x="0" y="0"/>
                </a:lnTo>
                <a:lnTo>
                  <a:pt x="6409803" y="0"/>
                </a:lnTo>
                <a:lnTo>
                  <a:pt x="6409803" y="6409803"/>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533400" y="2628900"/>
            <a:ext cx="16802861" cy="4209101"/>
          </a:xfrm>
          <a:prstGeom prst="rect">
            <a:avLst/>
          </a:prstGeom>
        </p:spPr>
        <p:txBody>
          <a:bodyPr wrap="square" lIns="0" tIns="0" rIns="0" bIns="0" rtlCol="0" anchor="t">
            <a:spAutoFit/>
          </a:bodyPr>
          <a:lstStyle/>
          <a:p>
            <a:pPr marL="431799" lvl="1" algn="just">
              <a:lnSpc>
                <a:spcPts val="5599"/>
              </a:lnSpc>
            </a:pPr>
            <a:r>
              <a:rPr lang="en-US" sz="3000" b="1" dirty="0">
                <a:solidFill>
                  <a:srgbClr val="406D41"/>
                </a:solidFill>
                <a:latin typeface="Verdana" panose="020B0604030504040204" pitchFamily="34" charset="0"/>
                <a:ea typeface="Verdana" panose="020B0604030504040204" pitchFamily="34" charset="0"/>
                <a:cs typeface="Lato Bold"/>
                <a:sym typeface="Lato Bold"/>
              </a:rPr>
              <a:t>Competence/Interest: </a:t>
            </a:r>
          </a:p>
          <a:p>
            <a:pPr marL="431799" lvl="1" algn="just">
              <a:lnSpc>
                <a:spcPts val="5599"/>
              </a:lnSpc>
            </a:pPr>
            <a:endParaRPr lang="en-US" sz="3000" b="1" dirty="0">
              <a:solidFill>
                <a:srgbClr val="406D41"/>
              </a:solidFill>
              <a:latin typeface="Verdana" panose="020B0604030504040204" pitchFamily="34" charset="0"/>
              <a:ea typeface="Verdana" panose="020B0604030504040204" pitchFamily="34" charset="0"/>
              <a:cs typeface="Lato Bold"/>
              <a:sym typeface="Lato Bold"/>
            </a:endParaRPr>
          </a:p>
          <a:p>
            <a:pPr marL="431799" lvl="1" algn="just">
              <a:lnSpc>
                <a:spcPts val="5599"/>
              </a:lnSpc>
            </a:pPr>
            <a:r>
              <a:rPr lang="en-US" sz="3000" b="1" dirty="0">
                <a:solidFill>
                  <a:srgbClr val="406D41"/>
                </a:solidFill>
                <a:latin typeface="Verdana" panose="020B0604030504040204" pitchFamily="34" charset="0"/>
                <a:ea typeface="Verdana" panose="020B0604030504040204" pitchFamily="34" charset="0"/>
                <a:cs typeface="Lato Bold"/>
                <a:sym typeface="Lato Bold"/>
              </a:rPr>
              <a:t>	This study aligns perfectly with our technical skills in software development, system design, and Python programming, building upon practical experience gained through developing digitized applications and our strong interest in data security and system integrity.</a:t>
            </a:r>
          </a:p>
        </p:txBody>
      </p:sp>
      <p:sp>
        <p:nvSpPr>
          <p:cNvPr id="5" name="TextBox 4">
            <a:extLst>
              <a:ext uri="{FF2B5EF4-FFF2-40B4-BE49-F238E27FC236}">
                <a16:creationId xmlns:a16="http://schemas.microsoft.com/office/drawing/2014/main" id="{8CA42C15-0039-40BC-974D-E29D01995734}"/>
              </a:ext>
            </a:extLst>
          </p:cNvPr>
          <p:cNvSpPr txBox="1"/>
          <p:nvPr/>
        </p:nvSpPr>
        <p:spPr>
          <a:xfrm>
            <a:off x="851133" y="1254112"/>
            <a:ext cx="11103469" cy="931665"/>
          </a:xfrm>
          <a:prstGeom prst="rect">
            <a:avLst/>
          </a:prstGeom>
        </p:spPr>
        <p:txBody>
          <a:bodyPr lIns="0" tIns="0" rIns="0" bIns="0" rtlCol="0" anchor="t">
            <a:spAutoFit/>
          </a:bodyPr>
          <a:lstStyle/>
          <a:p>
            <a:pPr>
              <a:lnSpc>
                <a:spcPts val="8529"/>
              </a:lnSpc>
            </a:pPr>
            <a:r>
              <a:rPr lang="en-US" sz="4400" b="1" dirty="0">
                <a:solidFill>
                  <a:srgbClr val="406D41"/>
                </a:solidFill>
                <a:latin typeface="Ubuntu Bold"/>
                <a:ea typeface="Ubuntu Bold"/>
                <a:cs typeface="Ubuntu Bold"/>
                <a:sym typeface="Ubuntu Bold"/>
              </a:rPr>
              <a:t>FEASIBILITY</a:t>
            </a:r>
          </a:p>
        </p:txBody>
      </p:sp>
    </p:spTree>
    <p:extLst>
      <p:ext uri="{BB962C8B-B14F-4D97-AF65-F5344CB8AC3E}">
        <p14:creationId xmlns:p14="http://schemas.microsoft.com/office/powerpoint/2010/main" val="3001367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A28DE-391B-8783-1CE1-EF08BC95DE8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1E3852F-38BC-DAD5-A30E-062A881B5C5B}"/>
              </a:ext>
            </a:extLst>
          </p:cNvPr>
          <p:cNvSpPr/>
          <p:nvPr/>
        </p:nvSpPr>
        <p:spPr>
          <a:xfrm rot="-5400000">
            <a:off x="-1159277" y="3872677"/>
            <a:ext cx="6409803" cy="6409803"/>
          </a:xfrm>
          <a:custGeom>
            <a:avLst/>
            <a:gdLst/>
            <a:ahLst/>
            <a:cxnLst/>
            <a:rect l="l" t="t" r="r" b="b"/>
            <a:pathLst>
              <a:path w="6409803" h="6409803">
                <a:moveTo>
                  <a:pt x="0" y="0"/>
                </a:moveTo>
                <a:lnTo>
                  <a:pt x="6409803" y="0"/>
                </a:lnTo>
                <a:lnTo>
                  <a:pt x="6409803" y="6409803"/>
                </a:lnTo>
                <a:lnTo>
                  <a:pt x="0" y="640980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C333FACE-856E-7E3C-CC07-15DB7DE7891E}"/>
              </a:ext>
            </a:extLst>
          </p:cNvPr>
          <p:cNvSpPr/>
          <p:nvPr/>
        </p:nvSpPr>
        <p:spPr>
          <a:xfrm rot="-5400000" flipH="1" flipV="1">
            <a:off x="13258800" y="0"/>
            <a:ext cx="6409803" cy="6409803"/>
          </a:xfrm>
          <a:custGeom>
            <a:avLst/>
            <a:gdLst/>
            <a:ahLst/>
            <a:cxnLst/>
            <a:rect l="l" t="t" r="r" b="b"/>
            <a:pathLst>
              <a:path w="6409803" h="6409803">
                <a:moveTo>
                  <a:pt x="6409803" y="6409803"/>
                </a:moveTo>
                <a:lnTo>
                  <a:pt x="0" y="6409803"/>
                </a:lnTo>
                <a:lnTo>
                  <a:pt x="0" y="0"/>
                </a:lnTo>
                <a:lnTo>
                  <a:pt x="6409803" y="0"/>
                </a:lnTo>
                <a:lnTo>
                  <a:pt x="6409803" y="6409803"/>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a:extLst>
              <a:ext uri="{FF2B5EF4-FFF2-40B4-BE49-F238E27FC236}">
                <a16:creationId xmlns:a16="http://schemas.microsoft.com/office/drawing/2014/main" id="{C4E8F239-434B-4433-C319-63497C851835}"/>
              </a:ext>
            </a:extLst>
          </p:cNvPr>
          <p:cNvSpPr txBox="1"/>
          <p:nvPr/>
        </p:nvSpPr>
        <p:spPr>
          <a:xfrm>
            <a:off x="457200" y="2400300"/>
            <a:ext cx="16901265" cy="7127272"/>
          </a:xfrm>
          <a:prstGeom prst="rect">
            <a:avLst/>
          </a:prstGeom>
        </p:spPr>
        <p:txBody>
          <a:bodyPr wrap="square" lIns="0" tIns="0" rIns="0" bIns="0" rtlCol="0" anchor="t">
            <a:spAutoFit/>
          </a:bodyPr>
          <a:lstStyle/>
          <a:p>
            <a:pPr marL="431799" lvl="1" algn="just">
              <a:lnSpc>
                <a:spcPct val="150000"/>
              </a:lnSpc>
            </a:pPr>
            <a:r>
              <a:rPr lang="en-US" sz="2400" b="1" dirty="0">
                <a:solidFill>
                  <a:schemeClr val="accent3">
                    <a:lumMod val="50000"/>
                  </a:schemeClr>
                </a:solidFill>
                <a:latin typeface="Verdana" panose="020B0604030504040204" pitchFamily="34" charset="0"/>
                <a:ea typeface="Verdana" panose="020B0604030504040204" pitchFamily="34" charset="0"/>
                <a:cs typeface="Lato Bold"/>
                <a:sym typeface="Lato Bold"/>
              </a:rPr>
              <a:t>[1] C. Artaud, A. Doucet, J.-M. Ogier, and V. Poulain </a:t>
            </a:r>
            <a:r>
              <a:rPr lang="en-US" sz="2400" b="1" dirty="0" err="1">
                <a:solidFill>
                  <a:schemeClr val="accent3">
                    <a:lumMod val="50000"/>
                  </a:schemeClr>
                </a:solidFill>
                <a:latin typeface="Verdana" panose="020B0604030504040204" pitchFamily="34" charset="0"/>
                <a:ea typeface="Verdana" panose="020B0604030504040204" pitchFamily="34" charset="0"/>
                <a:cs typeface="Lato Bold"/>
                <a:sym typeface="Lato Bold"/>
              </a:rPr>
              <a:t>d'Andecy</a:t>
            </a:r>
            <a:r>
              <a:rPr lang="en-US" sz="2400" b="1" dirty="0">
                <a:solidFill>
                  <a:schemeClr val="accent3">
                    <a:lumMod val="50000"/>
                  </a:schemeClr>
                </a:solidFill>
                <a:latin typeface="Verdana" panose="020B0604030504040204" pitchFamily="34" charset="0"/>
                <a:ea typeface="Verdana" panose="020B0604030504040204" pitchFamily="34" charset="0"/>
                <a:cs typeface="Lato Bold"/>
                <a:sym typeface="Lato Bold"/>
              </a:rPr>
              <a:t>, "Receipt dataset for fraud detection," in Proc. 1st Int. Workshop on Computational Document Forensics (IWCDF), 2017. Available: http://iwcdf2017.univ-lr.fr/wp-content/uploads/2017/11/IWCDF2017_Artaud_1.pdf</a:t>
            </a:r>
          </a:p>
          <a:p>
            <a:pPr marL="431799" lvl="1" algn="just">
              <a:lnSpc>
                <a:spcPct val="150000"/>
              </a:lnSpc>
            </a:pPr>
            <a:r>
              <a:rPr lang="en-US" sz="2400" b="1" dirty="0">
                <a:solidFill>
                  <a:schemeClr val="accent3">
                    <a:lumMod val="50000"/>
                  </a:schemeClr>
                </a:solidFill>
                <a:latin typeface="Verdana" panose="020B0604030504040204" pitchFamily="34" charset="0"/>
                <a:ea typeface="Verdana" panose="020B0604030504040204" pitchFamily="34" charset="0"/>
                <a:cs typeface="Lato Bold"/>
                <a:sym typeface="Lato Bold"/>
              </a:rPr>
              <a:t>[2] K. S. Vaishnavi and K. P. Narayan, "</a:t>
            </a:r>
            <a:r>
              <a:rPr lang="en-US" sz="2400" b="1" dirty="0" err="1">
                <a:solidFill>
                  <a:schemeClr val="accent3">
                    <a:lumMod val="50000"/>
                  </a:schemeClr>
                </a:solidFill>
                <a:latin typeface="Verdana" panose="020B0604030504040204" pitchFamily="34" charset="0"/>
                <a:ea typeface="Verdana" panose="020B0604030504040204" pitchFamily="34" charset="0"/>
                <a:cs typeface="Lato Bold"/>
                <a:sym typeface="Lato Bold"/>
              </a:rPr>
              <a:t>FakePay</a:t>
            </a:r>
            <a:r>
              <a:rPr lang="en-US" sz="2400" b="1" dirty="0">
                <a:solidFill>
                  <a:schemeClr val="accent3">
                    <a:lumMod val="50000"/>
                  </a:schemeClr>
                </a:solidFill>
                <a:latin typeface="Verdana" panose="020B0604030504040204" pitchFamily="34" charset="0"/>
                <a:ea typeface="Verdana" panose="020B0604030504040204" pitchFamily="34" charset="0"/>
                <a:cs typeface="Lato Bold"/>
                <a:sym typeface="Lato Bold"/>
              </a:rPr>
              <a:t>: A real-time UPI fraud detection system using OCR, CNN, and ensemble machine learning," Technical Report, Mar. 2026. Available: https://www.researchgate.net/publication/401550530_FakePay_A_Real-Time_UPI_Fraud_Detection_System_Using_OCR_CNN_and_Ensemble_Machine_Learning</a:t>
            </a:r>
          </a:p>
          <a:p>
            <a:pPr marL="431799" lvl="1" algn="just">
              <a:lnSpc>
                <a:spcPct val="150000"/>
              </a:lnSpc>
            </a:pPr>
            <a:r>
              <a:rPr lang="en-US" sz="2400" b="1" dirty="0">
                <a:solidFill>
                  <a:schemeClr val="accent3">
                    <a:lumMod val="50000"/>
                  </a:schemeClr>
                </a:solidFill>
                <a:latin typeface="Verdana" panose="020B0604030504040204" pitchFamily="34" charset="0"/>
                <a:ea typeface="Verdana" panose="020B0604030504040204" pitchFamily="34" charset="0"/>
                <a:cs typeface="Lato Bold"/>
                <a:sym typeface="Lato Bold"/>
              </a:rPr>
              <a:t>[3] A. M. </a:t>
            </a:r>
            <a:r>
              <a:rPr lang="en-US" sz="2400" b="1" dirty="0" err="1">
                <a:solidFill>
                  <a:schemeClr val="accent3">
                    <a:lumMod val="50000"/>
                  </a:schemeClr>
                </a:solidFill>
                <a:latin typeface="Verdana" panose="020B0604030504040204" pitchFamily="34" charset="0"/>
                <a:ea typeface="Verdana" panose="020B0604030504040204" pitchFamily="34" charset="0"/>
                <a:cs typeface="Lato Bold"/>
                <a:sym typeface="Lato Bold"/>
              </a:rPr>
              <a:t>Nagm</a:t>
            </a:r>
            <a:r>
              <a:rPr lang="en-US" sz="2400" b="1" dirty="0">
                <a:solidFill>
                  <a:schemeClr val="accent3">
                    <a:lumMod val="50000"/>
                  </a:schemeClr>
                </a:solidFill>
                <a:latin typeface="Verdana" panose="020B0604030504040204" pitchFamily="34" charset="0"/>
                <a:ea typeface="Verdana" panose="020B0604030504040204" pitchFamily="34" charset="0"/>
                <a:cs typeface="Lato Bold"/>
                <a:sym typeface="Lato Bold"/>
              </a:rPr>
              <a:t>, M. M. Moussa, R. </a:t>
            </a:r>
            <a:r>
              <a:rPr lang="en-US" sz="2400" b="1" dirty="0" err="1">
                <a:solidFill>
                  <a:schemeClr val="accent3">
                    <a:lumMod val="50000"/>
                  </a:schemeClr>
                </a:solidFill>
                <a:latin typeface="Verdana" panose="020B0604030504040204" pitchFamily="34" charset="0"/>
                <a:ea typeface="Verdana" panose="020B0604030504040204" pitchFamily="34" charset="0"/>
                <a:cs typeface="Lato Bold"/>
                <a:sym typeface="Lato Bold"/>
              </a:rPr>
              <a:t>Shoitan</a:t>
            </a:r>
            <a:r>
              <a:rPr lang="en-US" sz="2400" b="1" dirty="0">
                <a:solidFill>
                  <a:schemeClr val="accent3">
                    <a:lumMod val="50000"/>
                  </a:schemeClr>
                </a:solidFill>
                <a:latin typeface="Verdana" panose="020B0604030504040204" pitchFamily="34" charset="0"/>
                <a:ea typeface="Verdana" panose="020B0604030504040204" pitchFamily="34" charset="0"/>
                <a:cs typeface="Lato Bold"/>
                <a:sym typeface="Lato Bold"/>
              </a:rPr>
              <a:t>, A. Ali, M. Mashhour, A. S. Salama, and H. I. </a:t>
            </a:r>
            <a:r>
              <a:rPr lang="en-US" sz="2400" b="1" dirty="0" err="1">
                <a:solidFill>
                  <a:schemeClr val="accent3">
                    <a:lumMod val="50000"/>
                  </a:schemeClr>
                </a:solidFill>
                <a:latin typeface="Verdana" panose="020B0604030504040204" pitchFamily="34" charset="0"/>
                <a:ea typeface="Verdana" panose="020B0604030504040204" pitchFamily="34" charset="0"/>
                <a:cs typeface="Lato Bold"/>
                <a:sym typeface="Lato Bold"/>
              </a:rPr>
              <a:t>AbdulWakel</a:t>
            </a:r>
            <a:r>
              <a:rPr lang="en-US" sz="2400" b="1" dirty="0">
                <a:solidFill>
                  <a:schemeClr val="accent3">
                    <a:lumMod val="50000"/>
                  </a:schemeClr>
                </a:solidFill>
                <a:latin typeface="Verdana" panose="020B0604030504040204" pitchFamily="34" charset="0"/>
                <a:ea typeface="Verdana" panose="020B0604030504040204" pitchFamily="34" charset="0"/>
                <a:cs typeface="Lato Bold"/>
                <a:sym typeface="Lato Bold"/>
              </a:rPr>
              <a:t>, "Detecting image manipulation with ELA-CNN integration: A powerful framework for authenticity verification," </a:t>
            </a:r>
            <a:r>
              <a:rPr lang="en-US" sz="2400" b="1" dirty="0" err="1">
                <a:solidFill>
                  <a:schemeClr val="accent3">
                    <a:lumMod val="50000"/>
                  </a:schemeClr>
                </a:solidFill>
                <a:latin typeface="Verdana" panose="020B0604030504040204" pitchFamily="34" charset="0"/>
                <a:ea typeface="Verdana" panose="020B0604030504040204" pitchFamily="34" charset="0"/>
                <a:cs typeface="Lato Bold"/>
                <a:sym typeface="Lato Bold"/>
              </a:rPr>
              <a:t>PeerJ</a:t>
            </a:r>
            <a:r>
              <a:rPr lang="en-US" sz="2400" b="1" dirty="0">
                <a:solidFill>
                  <a:schemeClr val="accent3">
                    <a:lumMod val="50000"/>
                  </a:schemeClr>
                </a:solidFill>
                <a:latin typeface="Verdana" panose="020B0604030504040204" pitchFamily="34" charset="0"/>
                <a:ea typeface="Verdana" panose="020B0604030504040204" pitchFamily="34" charset="0"/>
                <a:cs typeface="Lato Bold"/>
                <a:sym typeface="Lato Bold"/>
              </a:rPr>
              <a:t> Computer Science, vol. 10, p. e2205, 2024. Available: https://doi.org/10.7717/peerj-cs.2205</a:t>
            </a:r>
          </a:p>
          <a:p>
            <a:pPr marL="431799" lvl="1" algn="just">
              <a:lnSpc>
                <a:spcPct val="150000"/>
              </a:lnSpc>
            </a:pPr>
            <a:endParaRPr lang="en-US" sz="2400" b="1" dirty="0">
              <a:solidFill>
                <a:schemeClr val="accent3">
                  <a:lumMod val="50000"/>
                </a:schemeClr>
              </a:solidFill>
              <a:latin typeface="Verdana" panose="020B0604030504040204" pitchFamily="34" charset="0"/>
              <a:ea typeface="Verdana" panose="020B0604030504040204" pitchFamily="34" charset="0"/>
              <a:cs typeface="Lato Bold"/>
              <a:sym typeface="Lato Bold"/>
            </a:endParaRPr>
          </a:p>
        </p:txBody>
      </p:sp>
      <p:sp>
        <p:nvSpPr>
          <p:cNvPr id="5" name="TextBox 4">
            <a:extLst>
              <a:ext uri="{FF2B5EF4-FFF2-40B4-BE49-F238E27FC236}">
                <a16:creationId xmlns:a16="http://schemas.microsoft.com/office/drawing/2014/main" id="{C9D3A5F6-0D7E-CACC-0608-6A7D0A304705}"/>
              </a:ext>
            </a:extLst>
          </p:cNvPr>
          <p:cNvSpPr txBox="1"/>
          <p:nvPr/>
        </p:nvSpPr>
        <p:spPr>
          <a:xfrm>
            <a:off x="838200" y="952500"/>
            <a:ext cx="11103469" cy="931665"/>
          </a:xfrm>
          <a:prstGeom prst="rect">
            <a:avLst/>
          </a:prstGeom>
        </p:spPr>
        <p:txBody>
          <a:bodyPr lIns="0" tIns="0" rIns="0" bIns="0" rtlCol="0" anchor="t">
            <a:spAutoFit/>
          </a:bodyPr>
          <a:lstStyle/>
          <a:p>
            <a:pPr>
              <a:lnSpc>
                <a:spcPts val="8529"/>
              </a:lnSpc>
            </a:pPr>
            <a:r>
              <a:rPr lang="en-US" sz="4400" b="1" dirty="0">
                <a:solidFill>
                  <a:srgbClr val="406D41"/>
                </a:solidFill>
                <a:latin typeface="Ubuntu Bold"/>
                <a:ea typeface="Ubuntu Bold"/>
                <a:cs typeface="Ubuntu Bold"/>
                <a:sym typeface="Ubuntu Bold"/>
              </a:rPr>
              <a:t>REFERENCES</a:t>
            </a:r>
          </a:p>
        </p:txBody>
      </p:sp>
    </p:spTree>
    <p:extLst>
      <p:ext uri="{BB962C8B-B14F-4D97-AF65-F5344CB8AC3E}">
        <p14:creationId xmlns:p14="http://schemas.microsoft.com/office/powerpoint/2010/main" val="503739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7DBA1-0B63-80B8-61D1-A9C217EC4A7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F758C48-8BA9-0ADC-2B61-D2663A179544}"/>
              </a:ext>
            </a:extLst>
          </p:cNvPr>
          <p:cNvSpPr/>
          <p:nvPr/>
        </p:nvSpPr>
        <p:spPr>
          <a:xfrm rot="-5400000">
            <a:off x="-357782" y="4446811"/>
            <a:ext cx="6409803" cy="6409803"/>
          </a:xfrm>
          <a:custGeom>
            <a:avLst/>
            <a:gdLst/>
            <a:ahLst/>
            <a:cxnLst/>
            <a:rect l="l" t="t" r="r" b="b"/>
            <a:pathLst>
              <a:path w="6409803" h="6409803">
                <a:moveTo>
                  <a:pt x="0" y="0"/>
                </a:moveTo>
                <a:lnTo>
                  <a:pt x="6409803" y="0"/>
                </a:lnTo>
                <a:lnTo>
                  <a:pt x="6409803" y="6409803"/>
                </a:lnTo>
                <a:lnTo>
                  <a:pt x="0" y="640980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C443D728-7D9D-4506-2149-603C087FD84A}"/>
              </a:ext>
            </a:extLst>
          </p:cNvPr>
          <p:cNvSpPr/>
          <p:nvPr/>
        </p:nvSpPr>
        <p:spPr>
          <a:xfrm rot="-5400000" flipH="1" flipV="1">
            <a:off x="12244841" y="-576002"/>
            <a:ext cx="6409803" cy="6409803"/>
          </a:xfrm>
          <a:custGeom>
            <a:avLst/>
            <a:gdLst/>
            <a:ahLst/>
            <a:cxnLst/>
            <a:rect l="l" t="t" r="r" b="b"/>
            <a:pathLst>
              <a:path w="6409803" h="6409803">
                <a:moveTo>
                  <a:pt x="6409803" y="6409803"/>
                </a:moveTo>
                <a:lnTo>
                  <a:pt x="0" y="6409803"/>
                </a:lnTo>
                <a:lnTo>
                  <a:pt x="0" y="0"/>
                </a:lnTo>
                <a:lnTo>
                  <a:pt x="6409803" y="0"/>
                </a:lnTo>
                <a:lnTo>
                  <a:pt x="6409803" y="6409803"/>
                </a:lnTo>
                <a:close/>
              </a:path>
            </a:pathLst>
          </a:custGeom>
          <a:blipFill>
            <a:blip>
              <a:extLst>
                <a:ext uri="{96DAC541-7B7A-43D3-8B79-37D633B846F1}">
                  <asvg:svgBlip xmlns:asvg="http://schemas.microsoft.com/office/drawing/2016/SVG/main" r:embed="rId2"/>
                </a:ext>
              </a:extLst>
            </a:blip>
            <a:stretch>
              <a:fillRect/>
            </a:stretch>
          </a:blipFill>
        </p:spPr>
      </p:sp>
      <p:sp>
        <p:nvSpPr>
          <p:cNvPr id="5" name="TextBox 4">
            <a:extLst>
              <a:ext uri="{FF2B5EF4-FFF2-40B4-BE49-F238E27FC236}">
                <a16:creationId xmlns:a16="http://schemas.microsoft.com/office/drawing/2014/main" id="{5D764584-6F39-6974-6139-CE9616B6B200}"/>
              </a:ext>
            </a:extLst>
          </p:cNvPr>
          <p:cNvSpPr txBox="1"/>
          <p:nvPr/>
        </p:nvSpPr>
        <p:spPr>
          <a:xfrm>
            <a:off x="1177535" y="778132"/>
            <a:ext cx="11103469" cy="931665"/>
          </a:xfrm>
          <a:prstGeom prst="rect">
            <a:avLst/>
          </a:prstGeom>
        </p:spPr>
        <p:txBody>
          <a:bodyPr lIns="0" tIns="0" rIns="0" bIns="0" rtlCol="0" anchor="t">
            <a:spAutoFit/>
          </a:bodyPr>
          <a:lstStyle/>
          <a:p>
            <a:pPr>
              <a:lnSpc>
                <a:spcPts val="8529"/>
              </a:lnSpc>
            </a:pPr>
            <a:r>
              <a:rPr lang="en-US" sz="4400" b="1" dirty="0">
                <a:solidFill>
                  <a:srgbClr val="406D41"/>
                </a:solidFill>
                <a:latin typeface="Ubuntu Bold"/>
                <a:ea typeface="Ubuntu Bold"/>
                <a:cs typeface="Ubuntu Bold"/>
                <a:sym typeface="Ubuntu Bold"/>
              </a:rPr>
              <a:t>REFERENCES</a:t>
            </a:r>
          </a:p>
        </p:txBody>
      </p:sp>
      <p:sp>
        <p:nvSpPr>
          <p:cNvPr id="7" name="TextBox 6">
            <a:extLst>
              <a:ext uri="{FF2B5EF4-FFF2-40B4-BE49-F238E27FC236}">
                <a16:creationId xmlns:a16="http://schemas.microsoft.com/office/drawing/2014/main" id="{B2745E63-6755-E83A-9E57-F917A107548D}"/>
              </a:ext>
            </a:extLst>
          </p:cNvPr>
          <p:cNvSpPr txBox="1"/>
          <p:nvPr/>
        </p:nvSpPr>
        <p:spPr>
          <a:xfrm>
            <a:off x="609600" y="2095500"/>
            <a:ext cx="16611600" cy="3341620"/>
          </a:xfrm>
          <a:prstGeom prst="rect">
            <a:avLst/>
          </a:prstGeom>
          <a:noFill/>
        </p:spPr>
        <p:txBody>
          <a:bodyPr wrap="square">
            <a:spAutoFit/>
          </a:bodyPr>
          <a:lstStyle/>
          <a:p>
            <a:pPr marL="431799" lvl="1" algn="just">
              <a:lnSpc>
                <a:spcPct val="150000"/>
              </a:lnSpc>
            </a:pPr>
            <a:r>
              <a:rPr lang="en-US" sz="2400" b="1" dirty="0">
                <a:solidFill>
                  <a:schemeClr val="accent3">
                    <a:lumMod val="50000"/>
                  </a:schemeClr>
                </a:solidFill>
                <a:latin typeface="Verdana" panose="020B0604030504040204" pitchFamily="34" charset="0"/>
                <a:ea typeface="Verdana" panose="020B0604030504040204" pitchFamily="34" charset="0"/>
                <a:cs typeface="Lato Bold"/>
                <a:sym typeface="Lato Bold"/>
              </a:rPr>
              <a:t>[4] K. He, X. Zhang, S. Ren, and J. Sun, "Deep residual learning for image recognition," in Proc. IEEE Conf. Computer Vision and Pattern Recognition (CVPR), 2016, pp. 770-778. Available: https://arxiv.org/abs/1512.03385</a:t>
            </a:r>
          </a:p>
          <a:p>
            <a:pPr marL="431799" lvl="1" algn="just">
              <a:lnSpc>
                <a:spcPct val="150000"/>
              </a:lnSpc>
            </a:pPr>
            <a:r>
              <a:rPr lang="en-US" sz="2400" b="1" dirty="0">
                <a:solidFill>
                  <a:schemeClr val="accent3">
                    <a:lumMod val="50000"/>
                  </a:schemeClr>
                </a:solidFill>
                <a:latin typeface="Verdana" panose="020B0604030504040204" pitchFamily="34" charset="0"/>
                <a:ea typeface="Verdana" panose="020B0604030504040204" pitchFamily="34" charset="0"/>
                <a:cs typeface="Lato Bold"/>
                <a:sym typeface="Lato Bold"/>
              </a:rPr>
              <a:t>[5] M. Sandler, A. Howard, M. Zhu, A. </a:t>
            </a:r>
            <a:r>
              <a:rPr lang="en-US" sz="2400" b="1" dirty="0" err="1">
                <a:solidFill>
                  <a:schemeClr val="accent3">
                    <a:lumMod val="50000"/>
                  </a:schemeClr>
                </a:solidFill>
                <a:latin typeface="Verdana" panose="020B0604030504040204" pitchFamily="34" charset="0"/>
                <a:ea typeface="Verdana" panose="020B0604030504040204" pitchFamily="34" charset="0"/>
                <a:cs typeface="Lato Bold"/>
                <a:sym typeface="Lato Bold"/>
              </a:rPr>
              <a:t>Zhmoginov</a:t>
            </a:r>
            <a:r>
              <a:rPr lang="en-US" sz="2400" b="1" dirty="0">
                <a:solidFill>
                  <a:schemeClr val="accent3">
                    <a:lumMod val="50000"/>
                  </a:schemeClr>
                </a:solidFill>
                <a:latin typeface="Verdana" panose="020B0604030504040204" pitchFamily="34" charset="0"/>
                <a:ea typeface="Verdana" panose="020B0604030504040204" pitchFamily="34" charset="0"/>
                <a:cs typeface="Lato Bold"/>
                <a:sym typeface="Lato Bold"/>
              </a:rPr>
              <a:t>, and L.-C. Chen, "MobileNetV2: Inverted residuals and linear bottlenecks," in Proc. IEEE Conf. Computer Vision and Pattern Recognition (CVPR), 2018, pp. 4510-4520. Available: https://arxiv.org/abs/1801.04381</a:t>
            </a:r>
          </a:p>
        </p:txBody>
      </p:sp>
    </p:spTree>
    <p:extLst>
      <p:ext uri="{BB962C8B-B14F-4D97-AF65-F5344CB8AC3E}">
        <p14:creationId xmlns:p14="http://schemas.microsoft.com/office/powerpoint/2010/main" val="7576206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26C5DCE-EACE-471A-B063-408C5F6622C3}">
  <we:reference id="wa200010001" version="1.0.0.1" store="en-US" storeType="OMEX"/>
  <we:alternateReferences>
    <we:reference id="wa200010001" version="1.0.0.1" store="wa200010001" storeType="OMEX"/>
  </we:alternateReferences>
  <we:properties>
    <we:property name="claude.fileId" value="&quot;9878595c-6a25-4388-a01a-0691283ea78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1632</TotalTime>
  <Words>1486</Words>
  <Application>Microsoft Office PowerPoint</Application>
  <PresentationFormat>Custom</PresentationFormat>
  <Paragraphs>87</Paragraphs>
  <Slides>11</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Ubuntu Bold</vt:lpstr>
      <vt:lpstr>Verdana</vt:lpstr>
      <vt:lpstr>Calibri</vt:lpstr>
      <vt:lpstr>Aptos</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“OSQuest”</dc:title>
  <dc:creator>Daniela</dc:creator>
  <cp:lastModifiedBy>DANIELA UNGAB</cp:lastModifiedBy>
  <cp:revision>15</cp:revision>
  <dcterms:created xsi:type="dcterms:W3CDTF">2006-08-16T00:00:00Z</dcterms:created>
  <dcterms:modified xsi:type="dcterms:W3CDTF">2026-07-21T12:55:20Z</dcterms:modified>
  <dc:identifier>DAGtrfJuKZM</dc:identifier>
</cp:coreProperties>
</file>